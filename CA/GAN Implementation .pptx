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4" r:id="rId8"/>
    <p:sldId id="267" r:id="rId9"/>
    <p:sldId id="270" r:id="rId10"/>
    <p:sldId id="271" r:id="rId11"/>
    <p:sldId id="262" r:id="rId12"/>
    <p:sldId id="272" r:id="rId13"/>
    <p:sldId id="268" r:id="rId14"/>
    <p:sldId id="269" r:id="rId15"/>
  </p:sldIdLst>
  <p:sldSz cx="18288000" cy="10287000"/>
  <p:notesSz cx="6858000" cy="9144000"/>
  <p:embeddedFontLst>
    <p:embeddedFont>
      <p:font typeface="Cy Grotesk Key Bold" panose="020B0604020202020204" charset="0"/>
      <p:regular r:id="rId17"/>
    </p:embeddedFont>
    <p:embeddedFont>
      <p:font typeface="Poppins" panose="00000500000000000000" pitchFamily="2" charset="0"/>
      <p:regular r:id="rId18"/>
      <p:bold r:id="rId19"/>
      <p:italic r:id="rId20"/>
      <p:boldItalic r:id="rId21"/>
    </p:embeddedFont>
    <p:embeddedFont>
      <p:font typeface="Poppins Bold" panose="00000800000000000000" charset="0"/>
      <p:regular r:id="rId22"/>
    </p:embeddedFont>
    <p:embeddedFont>
      <p:font typeface="TT Hoves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2411A1-69B3-4878-81CE-6B9DB05513D7}" type="datetimeFigureOut">
              <a:rPr lang="en-IN" smtClean="0"/>
              <a:t>29-09-2025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425A6B-DE83-4C90-9409-4B1976A5D4E0}" type="slidenum">
              <a:rPr lang="en-IN" smtClean="0"/>
              <a:t>‹#›</a:t>
            </a:fld>
            <a:endParaRPr lang="en-IN"/>
          </a:p>
        </p:txBody>
      </p:sp>
    </p:spTree>
    <p:extLst>
      <p:ext uri="{BB962C8B-B14F-4D97-AF65-F5344CB8AC3E}">
        <p14:creationId xmlns:p14="http://schemas.microsoft.com/office/powerpoint/2010/main" val="691235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5425A6B-DE83-4C90-9409-4B1976A5D4E0}" type="slidenum">
              <a:rPr lang="en-IN" smtClean="0"/>
              <a:t>2</a:t>
            </a:fld>
            <a:endParaRPr lang="en-IN"/>
          </a:p>
        </p:txBody>
      </p:sp>
    </p:spTree>
    <p:extLst>
      <p:ext uri="{BB962C8B-B14F-4D97-AF65-F5344CB8AC3E}">
        <p14:creationId xmlns:p14="http://schemas.microsoft.com/office/powerpoint/2010/main" val="381940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colab.research.google.com/drive/1OOaoV86XC42tPXoXDEXlcvbF2jMBRTK5?usp=sharing"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6420234" y="-1717598"/>
            <a:ext cx="3735531" cy="373553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lumMod val="60000"/>
                <a:lumOff val="40000"/>
                <a:alpha val="0"/>
              </a:schemeClr>
            </a:solidFill>
            <a:ln w="952500" cap="sq">
              <a:solidFill>
                <a:srgbClr val="145DA0"/>
              </a:solidFill>
              <a:prstDash val="solid"/>
              <a:miter/>
            </a:ln>
          </p:spPr>
          <p:txBody>
            <a:bodyPr/>
            <a:lstStyle/>
            <a:p>
              <a:endParaRPr lang="en-IN" dirty="0"/>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747857" y="-643475"/>
            <a:ext cx="1286950" cy="128695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lumMod val="40000"/>
                <a:lumOff val="60000"/>
              </a:schemeClr>
            </a:solidFill>
          </p:spPr>
          <p:txBody>
            <a:bodyPr/>
            <a:lstStyle/>
            <a:p>
              <a:endParaRPr lang="en-IN" dirty="0"/>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104298" y="7923962"/>
            <a:ext cx="3735531" cy="3850934"/>
            <a:chOff x="-38100" y="-101310"/>
            <a:chExt cx="812800" cy="837910"/>
          </a:xfrm>
        </p:grpSpPr>
        <p:sp>
          <p:nvSpPr>
            <p:cNvPr id="9" name="Freeform 9"/>
            <p:cNvSpPr/>
            <p:nvPr/>
          </p:nvSpPr>
          <p:spPr>
            <a:xfrm>
              <a:off x="-38100" y="-10131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chemeClr val="accent2">
                  <a:lumMod val="60000"/>
                  <a:lumOff val="40000"/>
                </a:schemeClr>
              </a:solidFill>
              <a:prstDash val="solid"/>
              <a:miter/>
            </a:ln>
          </p:spPr>
          <p:txBody>
            <a:bodyPr/>
            <a:lstStyle/>
            <a:p>
              <a:endParaRPr lang="en-IN" dirty="0"/>
            </a:p>
          </p:txBody>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rot="-1661921">
            <a:off x="16024715" y="9613861"/>
            <a:ext cx="1286950" cy="128695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3864545" y="547542"/>
            <a:ext cx="10140378" cy="2478759"/>
          </a:xfrm>
          <a:custGeom>
            <a:avLst/>
            <a:gdLst/>
            <a:ahLst/>
            <a:cxnLst/>
            <a:rect l="l" t="t" r="r" b="b"/>
            <a:pathLst>
              <a:path w="10140378" h="2478759">
                <a:moveTo>
                  <a:pt x="0" y="0"/>
                </a:moveTo>
                <a:lnTo>
                  <a:pt x="10140378" y="0"/>
                </a:lnTo>
                <a:lnTo>
                  <a:pt x="10140378" y="2478759"/>
                </a:lnTo>
                <a:lnTo>
                  <a:pt x="0" y="2478759"/>
                </a:lnTo>
                <a:lnTo>
                  <a:pt x="0" y="0"/>
                </a:lnTo>
                <a:close/>
              </a:path>
            </a:pathLst>
          </a:custGeom>
          <a:blipFill>
            <a:blip r:embed="rId2"/>
            <a:stretch>
              <a:fillRect/>
            </a:stretch>
          </a:blipFill>
        </p:spPr>
        <p:txBody>
          <a:bodyPr/>
          <a:lstStyle/>
          <a:p>
            <a:endParaRPr lang="en-IN"/>
          </a:p>
        </p:txBody>
      </p:sp>
      <p:sp>
        <p:nvSpPr>
          <p:cNvPr id="15" name="TextBox 15"/>
          <p:cNvSpPr txBox="1"/>
          <p:nvPr/>
        </p:nvSpPr>
        <p:spPr>
          <a:xfrm>
            <a:off x="816978" y="4751883"/>
            <a:ext cx="16654044" cy="1013098"/>
          </a:xfrm>
          <a:prstGeom prst="rect">
            <a:avLst/>
          </a:prstGeom>
        </p:spPr>
        <p:txBody>
          <a:bodyPr lIns="0" tIns="0" rIns="0" bIns="0" rtlCol="0" anchor="t">
            <a:spAutoFit/>
          </a:bodyPr>
          <a:lstStyle/>
          <a:p>
            <a:pPr algn="ctr">
              <a:lnSpc>
                <a:spcPts val="7888"/>
              </a:lnSpc>
            </a:pPr>
            <a:r>
              <a:rPr lang="en-US" sz="7200" b="1" dirty="0">
                <a:solidFill>
                  <a:schemeClr val="accent2">
                    <a:lumMod val="60000"/>
                    <a:lumOff val="40000"/>
                  </a:schemeClr>
                </a:solidFill>
                <a:latin typeface="Poppins Bold"/>
                <a:ea typeface="Poppins Bold"/>
                <a:cs typeface="Poppins Bold"/>
                <a:sym typeface="Poppins Bold"/>
              </a:rPr>
              <a:t>Fashion image synthesis</a:t>
            </a:r>
            <a:endParaRPr lang="en-US" sz="7171" b="1" spc="193" dirty="0">
              <a:solidFill>
                <a:schemeClr val="accent2">
                  <a:lumMod val="60000"/>
                  <a:lumOff val="40000"/>
                </a:schemeClr>
              </a:solidFill>
              <a:latin typeface="Cy Grotesk Key Bold"/>
              <a:ea typeface="Cy Grotesk Key Bold"/>
              <a:cs typeface="Cy Grotesk Key Bold"/>
              <a:sym typeface="Cy Grotesk Key Bold"/>
            </a:endParaRPr>
          </a:p>
        </p:txBody>
      </p:sp>
      <p:sp>
        <p:nvSpPr>
          <p:cNvPr id="16" name="TextBox 16"/>
          <p:cNvSpPr txBox="1"/>
          <p:nvPr/>
        </p:nvSpPr>
        <p:spPr>
          <a:xfrm>
            <a:off x="5375645" y="2894563"/>
            <a:ext cx="7118178" cy="870512"/>
          </a:xfrm>
          <a:prstGeom prst="rect">
            <a:avLst/>
          </a:prstGeom>
        </p:spPr>
        <p:txBody>
          <a:bodyPr lIns="0" tIns="0" rIns="0" bIns="0" rtlCol="0" anchor="t">
            <a:spAutoFit/>
          </a:bodyPr>
          <a:lstStyle/>
          <a:p>
            <a:pPr algn="ctr">
              <a:lnSpc>
                <a:spcPts val="7144"/>
              </a:lnSpc>
              <a:spcBef>
                <a:spcPct val="0"/>
              </a:spcBef>
            </a:pPr>
            <a:r>
              <a:rPr lang="en-US" sz="5102" b="1">
                <a:solidFill>
                  <a:srgbClr val="512156"/>
                </a:solidFill>
                <a:latin typeface="Cy Grotesk Key Bold"/>
                <a:ea typeface="Cy Grotesk Key Bold"/>
                <a:cs typeface="Cy Grotesk Key Bold"/>
                <a:sym typeface="Cy Grotesk Key Bold"/>
              </a:rPr>
              <a:t>GAN Implementation</a:t>
            </a:r>
          </a:p>
        </p:txBody>
      </p:sp>
      <p:sp>
        <p:nvSpPr>
          <p:cNvPr id="17" name="TextBox 17"/>
          <p:cNvSpPr txBox="1"/>
          <p:nvPr/>
        </p:nvSpPr>
        <p:spPr>
          <a:xfrm>
            <a:off x="8239295" y="7155202"/>
            <a:ext cx="10048704" cy="947054"/>
          </a:xfrm>
          <a:prstGeom prst="rect">
            <a:avLst/>
          </a:prstGeom>
        </p:spPr>
        <p:txBody>
          <a:bodyPr lIns="0" tIns="0" rIns="0" bIns="0" rtlCol="0" anchor="t">
            <a:spAutoFit/>
          </a:bodyPr>
          <a:lstStyle/>
          <a:p>
            <a:pPr algn="ctr">
              <a:lnSpc>
                <a:spcPts val="3919"/>
              </a:lnSpc>
            </a:pPr>
            <a:r>
              <a:rPr lang="en-US" sz="2799" b="1" dirty="0">
                <a:solidFill>
                  <a:srgbClr val="000000"/>
                </a:solidFill>
                <a:latin typeface="Cy Grotesk Key Bold"/>
                <a:ea typeface="Cy Grotesk Key Bold"/>
                <a:cs typeface="Cy Grotesk Key Bold"/>
                <a:sym typeface="Cy Grotesk Key Bold"/>
              </a:rPr>
              <a:t>Guide: Mrs. Savita S. Mane</a:t>
            </a:r>
          </a:p>
          <a:p>
            <a:pPr algn="ctr">
              <a:lnSpc>
                <a:spcPts val="3919"/>
              </a:lnSpc>
              <a:spcBef>
                <a:spcPct val="0"/>
              </a:spcBef>
            </a:pPr>
            <a:r>
              <a:rPr lang="en-US" sz="2799" b="1" dirty="0">
                <a:solidFill>
                  <a:srgbClr val="000000"/>
                </a:solidFill>
                <a:latin typeface="Cy Grotesk Key Bold"/>
                <a:ea typeface="Cy Grotesk Key Bold"/>
                <a:cs typeface="Cy Grotesk Key Bold"/>
                <a:sym typeface="Cy Grotesk Key Bold"/>
              </a:rPr>
              <a:t>(Computer Engineering Department) </a:t>
            </a:r>
          </a:p>
        </p:txBody>
      </p:sp>
      <p:sp>
        <p:nvSpPr>
          <p:cNvPr id="18" name="TextBox 18"/>
          <p:cNvSpPr txBox="1"/>
          <p:nvPr/>
        </p:nvSpPr>
        <p:spPr>
          <a:xfrm>
            <a:off x="1806336" y="6565130"/>
            <a:ext cx="8023464" cy="2717667"/>
          </a:xfrm>
          <a:prstGeom prst="rect">
            <a:avLst/>
          </a:prstGeom>
        </p:spPr>
        <p:txBody>
          <a:bodyPr wrap="square" lIns="0" tIns="0" rIns="0" bIns="0" rtlCol="0" anchor="t">
            <a:spAutoFit/>
          </a:bodyPr>
          <a:lstStyle/>
          <a:p>
            <a:pPr algn="ctr">
              <a:lnSpc>
                <a:spcPts val="4339"/>
              </a:lnSpc>
            </a:pPr>
            <a:r>
              <a:rPr lang="en-US" sz="3099" b="1" dirty="0">
                <a:solidFill>
                  <a:srgbClr val="000000"/>
                </a:solidFill>
                <a:latin typeface="TT Hoves Bold"/>
                <a:ea typeface="TT Hoves Bold"/>
                <a:cs typeface="TT Hoves Bold"/>
                <a:sym typeface="TT Hoves Bold"/>
              </a:rPr>
              <a:t>Team Members</a:t>
            </a:r>
          </a:p>
          <a:p>
            <a:pPr marL="334644" lvl="1">
              <a:lnSpc>
                <a:spcPts val="4339"/>
              </a:lnSpc>
            </a:pPr>
            <a:r>
              <a:rPr lang="en-US" sz="3099" b="1" dirty="0">
                <a:solidFill>
                  <a:srgbClr val="000000"/>
                </a:solidFill>
                <a:latin typeface="TT Hoves Bold"/>
                <a:ea typeface="TT Hoves Bold"/>
                <a:cs typeface="TT Hoves Bold"/>
                <a:sym typeface="TT Hoves Bold"/>
              </a:rPr>
              <a:t>Vaibhav Shinde   202301040024</a:t>
            </a:r>
          </a:p>
          <a:p>
            <a:pPr marL="334644" lvl="1">
              <a:lnSpc>
                <a:spcPts val="4339"/>
              </a:lnSpc>
            </a:pPr>
            <a:r>
              <a:rPr lang="en-US" sz="3099" b="1" dirty="0">
                <a:solidFill>
                  <a:srgbClr val="000000"/>
                </a:solidFill>
                <a:latin typeface="TT Hoves Bold"/>
                <a:ea typeface="TT Hoves Bold"/>
                <a:cs typeface="TT Hoves Bold"/>
                <a:sym typeface="TT Hoves Bold"/>
              </a:rPr>
              <a:t>Gourav Sable  202302040019</a:t>
            </a:r>
          </a:p>
          <a:p>
            <a:pPr marL="334644" lvl="1">
              <a:lnSpc>
                <a:spcPts val="4339"/>
              </a:lnSpc>
            </a:pPr>
            <a:r>
              <a:rPr lang="en-US" sz="3099" b="1" dirty="0">
                <a:solidFill>
                  <a:srgbClr val="000000"/>
                </a:solidFill>
                <a:latin typeface="TT Hoves Bold"/>
                <a:ea typeface="TT Hoves Bold"/>
                <a:cs typeface="TT Hoves Bold"/>
                <a:sym typeface="TT Hoves Bold"/>
              </a:rPr>
              <a:t>Nabil Ansari   202302040004</a:t>
            </a:r>
          </a:p>
          <a:p>
            <a:pPr marL="334644" lvl="1">
              <a:lnSpc>
                <a:spcPts val="4339"/>
              </a:lnSpc>
            </a:pPr>
            <a:r>
              <a:rPr lang="en-US" sz="3099" b="1" dirty="0">
                <a:solidFill>
                  <a:srgbClr val="000000"/>
                </a:solidFill>
                <a:latin typeface="TT Hoves Bold"/>
                <a:ea typeface="TT Hoves Bold"/>
                <a:cs typeface="TT Hoves Bold"/>
                <a:sym typeface="TT Hoves Bold"/>
              </a:rPr>
              <a:t>Priyanshu Wagh 202201040135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4517814" y="-315404"/>
            <a:ext cx="3964281" cy="10917809"/>
            <a:chOff x="0" y="0"/>
            <a:chExt cx="1044090" cy="2875472"/>
          </a:xfrm>
        </p:grpSpPr>
        <p:sp>
          <p:nvSpPr>
            <p:cNvPr id="3" name="Freeform 3"/>
            <p:cNvSpPr/>
            <p:nvPr/>
          </p:nvSpPr>
          <p:spPr>
            <a:xfrm>
              <a:off x="0" y="0"/>
              <a:ext cx="1044090" cy="2875472"/>
            </a:xfrm>
            <a:custGeom>
              <a:avLst/>
              <a:gdLst/>
              <a:ahLst/>
              <a:cxnLst/>
              <a:rect l="l" t="t" r="r" b="b"/>
              <a:pathLst>
                <a:path w="1044090" h="2875472">
                  <a:moveTo>
                    <a:pt x="0" y="0"/>
                  </a:moveTo>
                  <a:lnTo>
                    <a:pt x="1044090" y="0"/>
                  </a:lnTo>
                  <a:lnTo>
                    <a:pt x="1044090" y="2875472"/>
                  </a:lnTo>
                  <a:lnTo>
                    <a:pt x="0" y="2875472"/>
                  </a:lnTo>
                  <a:close/>
                </a:path>
              </a:pathLst>
            </a:custGeom>
            <a:solidFill>
              <a:srgbClr val="145DA0"/>
            </a:solidFill>
            <a:ln cap="sq">
              <a:noFill/>
              <a:prstDash val="solid"/>
              <a:miter/>
            </a:ln>
          </p:spPr>
          <p:txBody>
            <a:bodyPr/>
            <a:lstStyle/>
            <a:p>
              <a:endParaRPr lang="en-IN"/>
            </a:p>
          </p:txBody>
        </p:sp>
        <p:sp>
          <p:nvSpPr>
            <p:cNvPr id="4" name="TextBox 4"/>
            <p:cNvSpPr txBox="1"/>
            <p:nvPr/>
          </p:nvSpPr>
          <p:spPr>
            <a:xfrm>
              <a:off x="0" y="-57150"/>
              <a:ext cx="1044090" cy="293262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3663160" y="991689"/>
            <a:ext cx="4847576" cy="1318959"/>
          </a:xfrm>
          <a:prstGeom prst="rect">
            <a:avLst/>
          </a:prstGeom>
        </p:spPr>
        <p:txBody>
          <a:bodyPr lIns="0" tIns="0" rIns="0" bIns="0" rtlCol="0" anchor="t">
            <a:spAutoFit/>
          </a:bodyPr>
          <a:lstStyle/>
          <a:p>
            <a:pPr algn="ctr">
              <a:lnSpc>
                <a:spcPts val="10248"/>
              </a:lnSpc>
              <a:spcBef>
                <a:spcPct val="0"/>
              </a:spcBef>
            </a:pPr>
            <a:r>
              <a:rPr lang="en-US" sz="7320">
                <a:solidFill>
                  <a:srgbClr val="00569E"/>
                </a:solidFill>
                <a:latin typeface="Poppins"/>
                <a:ea typeface="Poppins"/>
                <a:cs typeface="Poppins"/>
                <a:sym typeface="Poppins"/>
              </a:rPr>
              <a:t>Content</a:t>
            </a:r>
          </a:p>
        </p:txBody>
      </p:sp>
      <p:grpSp>
        <p:nvGrpSpPr>
          <p:cNvPr id="6" name="Group 6"/>
          <p:cNvGrpSpPr/>
          <p:nvPr/>
        </p:nvGrpSpPr>
        <p:grpSpPr>
          <a:xfrm>
            <a:off x="-1867766" y="-1614217"/>
            <a:ext cx="3735531" cy="37355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chemeClr val="accent3">
                  <a:lumMod val="40000"/>
                  <a:lumOff val="60000"/>
                </a:schemeClr>
              </a:solidFill>
              <a:prstDash val="solid"/>
              <a:miter/>
            </a:ln>
          </p:spPr>
          <p:txBody>
            <a:bodyPr/>
            <a:lstStyle/>
            <a:p>
              <a:endParaRPr lang="en-IN"/>
            </a:p>
          </p:txBody>
        </p:sp>
        <p:sp>
          <p:nvSpPr>
            <p:cNvPr id="8" name="TextBox 8"/>
            <p:cNvSpPr txBox="1"/>
            <p:nvPr/>
          </p:nvSpPr>
          <p:spPr>
            <a:xfrm>
              <a:off x="76200" y="19050"/>
              <a:ext cx="660400" cy="717550"/>
            </a:xfrm>
            <a:prstGeom prst="rect">
              <a:avLst/>
            </a:prstGeom>
            <a:ln>
              <a:solidFill>
                <a:schemeClr val="accent3">
                  <a:lumMod val="40000"/>
                  <a:lumOff val="60000"/>
                </a:schemeClr>
              </a:solidFill>
            </a:ln>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5400000">
            <a:off x="2311926" y="2612195"/>
            <a:ext cx="603293" cy="535286"/>
          </a:xfrm>
          <a:custGeom>
            <a:avLst/>
            <a:gdLst/>
            <a:ahLst/>
            <a:cxnLst/>
            <a:rect l="l" t="t" r="r" b="b"/>
            <a:pathLst>
              <a:path w="603293" h="535286">
                <a:moveTo>
                  <a:pt x="0" y="0"/>
                </a:moveTo>
                <a:lnTo>
                  <a:pt x="603293" y="0"/>
                </a:lnTo>
                <a:lnTo>
                  <a:pt x="603293" y="535285"/>
                </a:lnTo>
                <a:lnTo>
                  <a:pt x="0" y="5352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Freeform 10"/>
          <p:cNvSpPr/>
          <p:nvPr/>
        </p:nvSpPr>
        <p:spPr>
          <a:xfrm>
            <a:off x="11796731" y="447246"/>
            <a:ext cx="5972616" cy="9392508"/>
          </a:xfrm>
          <a:custGeom>
            <a:avLst/>
            <a:gdLst/>
            <a:ahLst/>
            <a:cxnLst/>
            <a:rect l="l" t="t" r="r" b="b"/>
            <a:pathLst>
              <a:path w="5972616" h="9392508">
                <a:moveTo>
                  <a:pt x="0" y="0"/>
                </a:moveTo>
                <a:lnTo>
                  <a:pt x="5972616" y="0"/>
                </a:lnTo>
                <a:lnTo>
                  <a:pt x="5972616" y="9392508"/>
                </a:lnTo>
                <a:lnTo>
                  <a:pt x="0" y="9392508"/>
                </a:lnTo>
                <a:lnTo>
                  <a:pt x="0" y="0"/>
                </a:lnTo>
                <a:close/>
              </a:path>
            </a:pathLst>
          </a:custGeom>
          <a:blipFill>
            <a:blip r:embed="rId5"/>
            <a:stretch>
              <a:fillRect l="-2387" r="-2387"/>
            </a:stretch>
          </a:blipFill>
        </p:spPr>
        <p:txBody>
          <a:bodyPr/>
          <a:lstStyle/>
          <a:p>
            <a:endParaRPr lang="en-IN"/>
          </a:p>
        </p:txBody>
      </p:sp>
      <p:sp>
        <p:nvSpPr>
          <p:cNvPr id="11" name="TextBox 11"/>
          <p:cNvSpPr txBox="1"/>
          <p:nvPr/>
        </p:nvSpPr>
        <p:spPr>
          <a:xfrm>
            <a:off x="3198351" y="2473416"/>
            <a:ext cx="4949681" cy="671947"/>
          </a:xfrm>
          <a:prstGeom prst="rect">
            <a:avLst/>
          </a:prstGeom>
        </p:spPr>
        <p:txBody>
          <a:bodyPr lIns="0" tIns="0" rIns="0" bIns="0" rtlCol="0" anchor="t">
            <a:spAutoFit/>
          </a:bodyPr>
          <a:lstStyle/>
          <a:p>
            <a:pPr algn="l">
              <a:lnSpc>
                <a:spcPts val="5241"/>
              </a:lnSpc>
              <a:spcBef>
                <a:spcPct val="0"/>
              </a:spcBef>
            </a:pPr>
            <a:r>
              <a:rPr lang="en-US" sz="3743" spc="-74" dirty="0">
                <a:solidFill>
                  <a:srgbClr val="00569E"/>
                </a:solidFill>
                <a:latin typeface="Poppins"/>
                <a:ea typeface="Poppins"/>
                <a:cs typeface="Poppins"/>
                <a:sym typeface="Poppins"/>
              </a:rPr>
              <a:t>Introduction</a:t>
            </a:r>
          </a:p>
        </p:txBody>
      </p:sp>
      <p:sp>
        <p:nvSpPr>
          <p:cNvPr id="13" name="Freeform 13"/>
          <p:cNvSpPr/>
          <p:nvPr/>
        </p:nvSpPr>
        <p:spPr>
          <a:xfrm rot="5400000">
            <a:off x="2311926" y="4127536"/>
            <a:ext cx="603293" cy="535286"/>
          </a:xfrm>
          <a:custGeom>
            <a:avLst/>
            <a:gdLst/>
            <a:ahLst/>
            <a:cxnLst/>
            <a:rect l="l" t="t" r="r" b="b"/>
            <a:pathLst>
              <a:path w="603293" h="535286">
                <a:moveTo>
                  <a:pt x="0" y="0"/>
                </a:moveTo>
                <a:lnTo>
                  <a:pt x="603293" y="0"/>
                </a:lnTo>
                <a:lnTo>
                  <a:pt x="603293" y="535285"/>
                </a:lnTo>
                <a:lnTo>
                  <a:pt x="0" y="5352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4" name="TextBox 14"/>
          <p:cNvSpPr txBox="1"/>
          <p:nvPr/>
        </p:nvSpPr>
        <p:spPr>
          <a:xfrm>
            <a:off x="3198351" y="3999113"/>
            <a:ext cx="5435073" cy="671912"/>
          </a:xfrm>
          <a:prstGeom prst="rect">
            <a:avLst/>
          </a:prstGeom>
        </p:spPr>
        <p:txBody>
          <a:bodyPr lIns="0" tIns="0" rIns="0" bIns="0" rtlCol="0" anchor="t">
            <a:spAutoFit/>
          </a:bodyPr>
          <a:lstStyle/>
          <a:p>
            <a:pPr algn="l">
              <a:lnSpc>
                <a:spcPts val="5241"/>
              </a:lnSpc>
              <a:spcBef>
                <a:spcPct val="0"/>
              </a:spcBef>
            </a:pPr>
            <a:r>
              <a:rPr lang="en-US" sz="3743" spc="-74" dirty="0">
                <a:solidFill>
                  <a:srgbClr val="00569E"/>
                </a:solidFill>
                <a:latin typeface="Poppins"/>
                <a:ea typeface="Poppins"/>
                <a:cs typeface="Poppins"/>
                <a:sym typeface="Poppins"/>
              </a:rPr>
              <a:t>Objectives</a:t>
            </a:r>
          </a:p>
        </p:txBody>
      </p:sp>
      <p:sp>
        <p:nvSpPr>
          <p:cNvPr id="16" name="Freeform 16"/>
          <p:cNvSpPr/>
          <p:nvPr/>
        </p:nvSpPr>
        <p:spPr>
          <a:xfrm rot="5400000">
            <a:off x="2311926" y="4885206"/>
            <a:ext cx="603293" cy="535286"/>
          </a:xfrm>
          <a:custGeom>
            <a:avLst/>
            <a:gdLst/>
            <a:ahLst/>
            <a:cxnLst/>
            <a:rect l="l" t="t" r="r" b="b"/>
            <a:pathLst>
              <a:path w="603293" h="535286">
                <a:moveTo>
                  <a:pt x="0" y="0"/>
                </a:moveTo>
                <a:lnTo>
                  <a:pt x="603293" y="0"/>
                </a:lnTo>
                <a:lnTo>
                  <a:pt x="603293" y="535286"/>
                </a:lnTo>
                <a:lnTo>
                  <a:pt x="0" y="5352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7" name="TextBox 17"/>
          <p:cNvSpPr txBox="1"/>
          <p:nvPr/>
        </p:nvSpPr>
        <p:spPr>
          <a:xfrm>
            <a:off x="3198351" y="4761943"/>
            <a:ext cx="6103466" cy="671912"/>
          </a:xfrm>
          <a:prstGeom prst="rect">
            <a:avLst/>
          </a:prstGeom>
        </p:spPr>
        <p:txBody>
          <a:bodyPr lIns="0" tIns="0" rIns="0" bIns="0" rtlCol="0" anchor="t">
            <a:spAutoFit/>
          </a:bodyPr>
          <a:lstStyle/>
          <a:p>
            <a:pPr algn="l">
              <a:lnSpc>
                <a:spcPts val="5241"/>
              </a:lnSpc>
              <a:spcBef>
                <a:spcPct val="0"/>
              </a:spcBef>
            </a:pPr>
            <a:r>
              <a:rPr lang="en-US" sz="3743" spc="-74">
                <a:solidFill>
                  <a:srgbClr val="00569E"/>
                </a:solidFill>
                <a:latin typeface="Poppins"/>
                <a:ea typeface="Poppins"/>
                <a:cs typeface="Poppins"/>
                <a:sym typeface="Poppins"/>
              </a:rPr>
              <a:t>Challenges</a:t>
            </a:r>
          </a:p>
        </p:txBody>
      </p:sp>
      <p:sp>
        <p:nvSpPr>
          <p:cNvPr id="19" name="Freeform 19"/>
          <p:cNvSpPr/>
          <p:nvPr/>
        </p:nvSpPr>
        <p:spPr>
          <a:xfrm rot="5400000">
            <a:off x="2311926" y="5642877"/>
            <a:ext cx="603293" cy="535286"/>
          </a:xfrm>
          <a:custGeom>
            <a:avLst/>
            <a:gdLst/>
            <a:ahLst/>
            <a:cxnLst/>
            <a:rect l="l" t="t" r="r" b="b"/>
            <a:pathLst>
              <a:path w="603293" h="535286">
                <a:moveTo>
                  <a:pt x="0" y="0"/>
                </a:moveTo>
                <a:lnTo>
                  <a:pt x="603293" y="0"/>
                </a:lnTo>
                <a:lnTo>
                  <a:pt x="603293" y="535286"/>
                </a:lnTo>
                <a:lnTo>
                  <a:pt x="0" y="5352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20" name="TextBox 20"/>
          <p:cNvSpPr txBox="1"/>
          <p:nvPr/>
        </p:nvSpPr>
        <p:spPr>
          <a:xfrm>
            <a:off x="3198351" y="6259508"/>
            <a:ext cx="5769269" cy="634533"/>
          </a:xfrm>
          <a:prstGeom prst="rect">
            <a:avLst/>
          </a:prstGeom>
        </p:spPr>
        <p:txBody>
          <a:bodyPr lIns="0" tIns="0" rIns="0" bIns="0" rtlCol="0" anchor="t">
            <a:spAutoFit/>
          </a:bodyPr>
          <a:lstStyle/>
          <a:p>
            <a:pPr algn="l">
              <a:lnSpc>
                <a:spcPts val="5241"/>
              </a:lnSpc>
              <a:spcBef>
                <a:spcPct val="0"/>
              </a:spcBef>
            </a:pPr>
            <a:r>
              <a:rPr lang="en-US" sz="3743" spc="-74" dirty="0">
                <a:solidFill>
                  <a:srgbClr val="00569E"/>
                </a:solidFill>
                <a:latin typeface="Poppins"/>
                <a:ea typeface="Poppins"/>
                <a:cs typeface="Poppins"/>
                <a:sym typeface="Poppins"/>
              </a:rPr>
              <a:t>Comparative Analysis</a:t>
            </a:r>
          </a:p>
        </p:txBody>
      </p:sp>
      <p:sp>
        <p:nvSpPr>
          <p:cNvPr id="22" name="Freeform 22"/>
          <p:cNvSpPr/>
          <p:nvPr/>
        </p:nvSpPr>
        <p:spPr>
          <a:xfrm rot="5400000">
            <a:off x="2311926" y="6400547"/>
            <a:ext cx="603293" cy="535286"/>
          </a:xfrm>
          <a:custGeom>
            <a:avLst/>
            <a:gdLst/>
            <a:ahLst/>
            <a:cxnLst/>
            <a:rect l="l" t="t" r="r" b="b"/>
            <a:pathLst>
              <a:path w="603293" h="535286">
                <a:moveTo>
                  <a:pt x="0" y="0"/>
                </a:moveTo>
                <a:lnTo>
                  <a:pt x="603293" y="0"/>
                </a:lnTo>
                <a:lnTo>
                  <a:pt x="603293" y="535286"/>
                </a:lnTo>
                <a:lnTo>
                  <a:pt x="0" y="5352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24" name="Freeform 24"/>
          <p:cNvSpPr/>
          <p:nvPr/>
        </p:nvSpPr>
        <p:spPr>
          <a:xfrm rot="5400000">
            <a:off x="2311926" y="7139520"/>
            <a:ext cx="603293" cy="535286"/>
          </a:xfrm>
          <a:custGeom>
            <a:avLst/>
            <a:gdLst/>
            <a:ahLst/>
            <a:cxnLst/>
            <a:rect l="l" t="t" r="r" b="b"/>
            <a:pathLst>
              <a:path w="603293" h="535286">
                <a:moveTo>
                  <a:pt x="0" y="0"/>
                </a:moveTo>
                <a:lnTo>
                  <a:pt x="603293" y="0"/>
                </a:lnTo>
                <a:lnTo>
                  <a:pt x="603293" y="535286"/>
                </a:lnTo>
                <a:lnTo>
                  <a:pt x="0" y="5352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25" name="TextBox 25"/>
          <p:cNvSpPr txBox="1"/>
          <p:nvPr/>
        </p:nvSpPr>
        <p:spPr>
          <a:xfrm>
            <a:off x="3198351" y="7050436"/>
            <a:ext cx="5769269" cy="634533"/>
          </a:xfrm>
          <a:prstGeom prst="rect">
            <a:avLst/>
          </a:prstGeom>
        </p:spPr>
        <p:txBody>
          <a:bodyPr lIns="0" tIns="0" rIns="0" bIns="0" rtlCol="0" anchor="t">
            <a:spAutoFit/>
          </a:bodyPr>
          <a:lstStyle/>
          <a:p>
            <a:pPr algn="l">
              <a:lnSpc>
                <a:spcPts val="5241"/>
              </a:lnSpc>
              <a:spcBef>
                <a:spcPct val="0"/>
              </a:spcBef>
            </a:pPr>
            <a:r>
              <a:rPr lang="en-US" sz="3743" spc="-74" dirty="0">
                <a:solidFill>
                  <a:srgbClr val="00569E"/>
                </a:solidFill>
                <a:latin typeface="Poppins"/>
                <a:ea typeface="Poppins"/>
                <a:cs typeface="Poppins"/>
                <a:sym typeface="Poppins"/>
              </a:rPr>
              <a:t>Use cases</a:t>
            </a:r>
          </a:p>
        </p:txBody>
      </p:sp>
      <p:sp>
        <p:nvSpPr>
          <p:cNvPr id="28" name="TextBox 28"/>
          <p:cNvSpPr txBox="1"/>
          <p:nvPr/>
        </p:nvSpPr>
        <p:spPr>
          <a:xfrm>
            <a:off x="3159888" y="5524773"/>
            <a:ext cx="5769269" cy="671912"/>
          </a:xfrm>
          <a:prstGeom prst="rect">
            <a:avLst/>
          </a:prstGeom>
        </p:spPr>
        <p:txBody>
          <a:bodyPr lIns="0" tIns="0" rIns="0" bIns="0" rtlCol="0" anchor="t">
            <a:spAutoFit/>
          </a:bodyPr>
          <a:lstStyle/>
          <a:p>
            <a:pPr algn="l">
              <a:lnSpc>
                <a:spcPts val="5241"/>
              </a:lnSpc>
              <a:spcBef>
                <a:spcPct val="0"/>
              </a:spcBef>
            </a:pPr>
            <a:r>
              <a:rPr lang="en-US" sz="3743" spc="-74" dirty="0">
                <a:solidFill>
                  <a:srgbClr val="00569E"/>
                </a:solidFill>
                <a:latin typeface="Poppins"/>
                <a:ea typeface="Poppins"/>
                <a:cs typeface="Poppins"/>
                <a:sym typeface="Poppins"/>
              </a:rPr>
              <a:t>Implementation</a:t>
            </a:r>
          </a:p>
        </p:txBody>
      </p:sp>
      <p:sp>
        <p:nvSpPr>
          <p:cNvPr id="29" name="Freeform 29"/>
          <p:cNvSpPr/>
          <p:nvPr/>
        </p:nvSpPr>
        <p:spPr>
          <a:xfrm rot="5400000">
            <a:off x="2311926" y="7915889"/>
            <a:ext cx="603293" cy="535286"/>
          </a:xfrm>
          <a:custGeom>
            <a:avLst/>
            <a:gdLst/>
            <a:ahLst/>
            <a:cxnLst/>
            <a:rect l="l" t="t" r="r" b="b"/>
            <a:pathLst>
              <a:path w="603293" h="535286">
                <a:moveTo>
                  <a:pt x="0" y="0"/>
                </a:moveTo>
                <a:lnTo>
                  <a:pt x="603293" y="0"/>
                </a:lnTo>
                <a:lnTo>
                  <a:pt x="603293" y="535285"/>
                </a:lnTo>
                <a:lnTo>
                  <a:pt x="0" y="5352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0" name="TextBox 30"/>
          <p:cNvSpPr txBox="1"/>
          <p:nvPr/>
        </p:nvSpPr>
        <p:spPr>
          <a:xfrm>
            <a:off x="3198351" y="7813266"/>
            <a:ext cx="5769269" cy="634533"/>
          </a:xfrm>
          <a:prstGeom prst="rect">
            <a:avLst/>
          </a:prstGeom>
        </p:spPr>
        <p:txBody>
          <a:bodyPr lIns="0" tIns="0" rIns="0" bIns="0" rtlCol="0" anchor="t">
            <a:spAutoFit/>
          </a:bodyPr>
          <a:lstStyle/>
          <a:p>
            <a:pPr algn="l">
              <a:lnSpc>
                <a:spcPts val="5241"/>
              </a:lnSpc>
              <a:spcBef>
                <a:spcPct val="0"/>
              </a:spcBef>
            </a:pPr>
            <a:r>
              <a:rPr lang="en-US" sz="3743" spc="-74" dirty="0">
                <a:solidFill>
                  <a:srgbClr val="00569E"/>
                </a:solidFill>
                <a:latin typeface="Poppins"/>
                <a:ea typeface="Poppins"/>
                <a:cs typeface="Poppins"/>
                <a:sym typeface="Poppins"/>
              </a:rPr>
              <a:t>Ethical Concerns</a:t>
            </a:r>
          </a:p>
        </p:txBody>
      </p:sp>
      <p:sp>
        <p:nvSpPr>
          <p:cNvPr id="31" name="Freeform 31"/>
          <p:cNvSpPr/>
          <p:nvPr/>
        </p:nvSpPr>
        <p:spPr>
          <a:xfrm rot="5400000">
            <a:off x="2311926" y="3369865"/>
            <a:ext cx="603293" cy="535286"/>
          </a:xfrm>
          <a:custGeom>
            <a:avLst/>
            <a:gdLst/>
            <a:ahLst/>
            <a:cxnLst/>
            <a:rect l="l" t="t" r="r" b="b"/>
            <a:pathLst>
              <a:path w="603293" h="535286">
                <a:moveTo>
                  <a:pt x="0" y="0"/>
                </a:moveTo>
                <a:lnTo>
                  <a:pt x="603293" y="0"/>
                </a:lnTo>
                <a:lnTo>
                  <a:pt x="603293" y="535286"/>
                </a:lnTo>
                <a:lnTo>
                  <a:pt x="0" y="5352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2" name="TextBox 32"/>
          <p:cNvSpPr txBox="1"/>
          <p:nvPr/>
        </p:nvSpPr>
        <p:spPr>
          <a:xfrm>
            <a:off x="3198351" y="3236282"/>
            <a:ext cx="5435073" cy="671912"/>
          </a:xfrm>
          <a:prstGeom prst="rect">
            <a:avLst/>
          </a:prstGeom>
        </p:spPr>
        <p:txBody>
          <a:bodyPr lIns="0" tIns="0" rIns="0" bIns="0" rtlCol="0" anchor="t">
            <a:spAutoFit/>
          </a:bodyPr>
          <a:lstStyle/>
          <a:p>
            <a:pPr algn="l">
              <a:lnSpc>
                <a:spcPts val="5241"/>
              </a:lnSpc>
              <a:spcBef>
                <a:spcPct val="0"/>
              </a:spcBef>
            </a:pPr>
            <a:r>
              <a:rPr lang="en-US" sz="3743" spc="-74">
                <a:solidFill>
                  <a:srgbClr val="00569E"/>
                </a:solidFill>
                <a:latin typeface="Poppins"/>
                <a:ea typeface="Poppins"/>
                <a:cs typeface="Poppins"/>
                <a:sym typeface="Poppins"/>
              </a:rPr>
              <a:t>Problem Statement</a:t>
            </a:r>
          </a:p>
        </p:txBody>
      </p:sp>
      <p:sp>
        <p:nvSpPr>
          <p:cNvPr id="12" name="Freeform 29">
            <a:extLst>
              <a:ext uri="{FF2B5EF4-FFF2-40B4-BE49-F238E27FC236}">
                <a16:creationId xmlns:a16="http://schemas.microsoft.com/office/drawing/2014/main" id="{9F486978-30F3-F693-1F04-FF0DBB7FB8D7}"/>
              </a:ext>
            </a:extLst>
          </p:cNvPr>
          <p:cNvSpPr/>
          <p:nvPr/>
        </p:nvSpPr>
        <p:spPr>
          <a:xfrm rot="5400000">
            <a:off x="2341423" y="8692258"/>
            <a:ext cx="603293" cy="535286"/>
          </a:xfrm>
          <a:custGeom>
            <a:avLst/>
            <a:gdLst/>
            <a:ahLst/>
            <a:cxnLst/>
            <a:rect l="l" t="t" r="r" b="b"/>
            <a:pathLst>
              <a:path w="603293" h="535286">
                <a:moveTo>
                  <a:pt x="0" y="0"/>
                </a:moveTo>
                <a:lnTo>
                  <a:pt x="603293" y="0"/>
                </a:lnTo>
                <a:lnTo>
                  <a:pt x="603293" y="535285"/>
                </a:lnTo>
                <a:lnTo>
                  <a:pt x="0" y="5352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5" name="TextBox 30">
            <a:extLst>
              <a:ext uri="{FF2B5EF4-FFF2-40B4-BE49-F238E27FC236}">
                <a16:creationId xmlns:a16="http://schemas.microsoft.com/office/drawing/2014/main" id="{95582F4E-D0D3-8F47-7FF2-61D59834E07E}"/>
              </a:ext>
            </a:extLst>
          </p:cNvPr>
          <p:cNvSpPr txBox="1"/>
          <p:nvPr/>
        </p:nvSpPr>
        <p:spPr>
          <a:xfrm>
            <a:off x="3159887" y="8613475"/>
            <a:ext cx="5769269" cy="634533"/>
          </a:xfrm>
          <a:prstGeom prst="rect">
            <a:avLst/>
          </a:prstGeom>
        </p:spPr>
        <p:txBody>
          <a:bodyPr lIns="0" tIns="0" rIns="0" bIns="0" rtlCol="0" anchor="t">
            <a:spAutoFit/>
          </a:bodyPr>
          <a:lstStyle/>
          <a:p>
            <a:pPr algn="l">
              <a:lnSpc>
                <a:spcPts val="5241"/>
              </a:lnSpc>
              <a:spcBef>
                <a:spcPct val="0"/>
              </a:spcBef>
            </a:pPr>
            <a:r>
              <a:rPr lang="en-US" sz="3743" spc="-74" dirty="0">
                <a:solidFill>
                  <a:srgbClr val="00569E"/>
                </a:solidFill>
                <a:latin typeface="Poppins"/>
                <a:ea typeface="Poppins"/>
                <a:cs typeface="Poppins"/>
                <a:sym typeface="Poppins"/>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3" name="Group 3"/>
          <p:cNvGrpSpPr/>
          <p:nvPr/>
        </p:nvGrpSpPr>
        <p:grpSpPr>
          <a:xfrm>
            <a:off x="-188217" y="9258300"/>
            <a:ext cx="18476217" cy="1028700"/>
            <a:chOff x="0" y="0"/>
            <a:chExt cx="4866164" cy="270933"/>
          </a:xfrm>
        </p:grpSpPr>
        <p:sp>
          <p:nvSpPr>
            <p:cNvPr id="4" name="Freeform 4"/>
            <p:cNvSpPr/>
            <p:nvPr/>
          </p:nvSpPr>
          <p:spPr>
            <a:xfrm>
              <a:off x="0" y="0"/>
              <a:ext cx="4866164" cy="270933"/>
            </a:xfrm>
            <a:custGeom>
              <a:avLst/>
              <a:gdLst/>
              <a:ahLst/>
              <a:cxnLst/>
              <a:rect l="l" t="t" r="r" b="b"/>
              <a:pathLst>
                <a:path w="4866164" h="270933">
                  <a:moveTo>
                    <a:pt x="0" y="0"/>
                  </a:moveTo>
                  <a:lnTo>
                    <a:pt x="4866164" y="0"/>
                  </a:lnTo>
                  <a:lnTo>
                    <a:pt x="4866164" y="270933"/>
                  </a:lnTo>
                  <a:lnTo>
                    <a:pt x="0" y="270933"/>
                  </a:lnTo>
                  <a:close/>
                </a:path>
              </a:pathLst>
            </a:custGeom>
            <a:solidFill>
              <a:srgbClr val="5B98BA"/>
            </a:solidFill>
            <a:ln cap="sq">
              <a:noFill/>
              <a:prstDash val="solid"/>
              <a:miter/>
            </a:ln>
          </p:spPr>
          <p:txBody>
            <a:bodyPr/>
            <a:lstStyle/>
            <a:p>
              <a:endParaRPr lang="en-IN"/>
            </a:p>
          </p:txBody>
        </p:sp>
        <p:sp>
          <p:nvSpPr>
            <p:cNvPr id="5" name="TextBox 5"/>
            <p:cNvSpPr txBox="1"/>
            <p:nvPr/>
          </p:nvSpPr>
          <p:spPr>
            <a:xfrm>
              <a:off x="0" y="-66675"/>
              <a:ext cx="4866164" cy="337608"/>
            </a:xfrm>
            <a:prstGeom prst="rect">
              <a:avLst/>
            </a:prstGeom>
          </p:spPr>
          <p:txBody>
            <a:bodyPr lIns="50800" tIns="50800" rIns="50800" bIns="50800" rtlCol="0" anchor="ctr"/>
            <a:lstStyle/>
            <a:p>
              <a:pPr marL="518160" lvl="1" indent="-259080" algn="l">
                <a:lnSpc>
                  <a:spcPts val="3359"/>
                </a:lnSpc>
                <a:buFont typeface="Arial"/>
                <a:buChar char="•"/>
              </a:pPr>
              <a:endParaRPr/>
            </a:p>
          </p:txBody>
        </p:sp>
      </p:grpSp>
      <p:grpSp>
        <p:nvGrpSpPr>
          <p:cNvPr id="6" name="Group 6"/>
          <p:cNvGrpSpPr/>
          <p:nvPr/>
        </p:nvGrpSpPr>
        <p:grpSpPr>
          <a:xfrm>
            <a:off x="245023" y="143004"/>
            <a:ext cx="17609736" cy="8988717"/>
            <a:chOff x="0" y="-66675"/>
            <a:chExt cx="4637955" cy="2367399"/>
          </a:xfrm>
          <a:solidFill>
            <a:schemeClr val="accent1">
              <a:lumMod val="20000"/>
              <a:lumOff val="80000"/>
            </a:schemeClr>
          </a:solidFill>
        </p:grpSpPr>
        <p:sp>
          <p:nvSpPr>
            <p:cNvPr id="7" name="Freeform 7"/>
            <p:cNvSpPr/>
            <p:nvPr/>
          </p:nvSpPr>
          <p:spPr>
            <a:xfrm>
              <a:off x="0" y="0"/>
              <a:ext cx="4637955" cy="2300724"/>
            </a:xfrm>
            <a:custGeom>
              <a:avLst/>
              <a:gdLst/>
              <a:ahLst/>
              <a:cxnLst/>
              <a:rect l="l" t="t" r="r" b="b"/>
              <a:pathLst>
                <a:path w="4637955" h="2300724">
                  <a:moveTo>
                    <a:pt x="0" y="0"/>
                  </a:moveTo>
                  <a:lnTo>
                    <a:pt x="4637955" y="0"/>
                  </a:lnTo>
                  <a:lnTo>
                    <a:pt x="4637955" y="2300724"/>
                  </a:lnTo>
                  <a:lnTo>
                    <a:pt x="0" y="2300724"/>
                  </a:lnTo>
                  <a:close/>
                </a:path>
              </a:pathLst>
            </a:custGeom>
            <a:grpFill/>
            <a:ln cap="sq">
              <a:noFill/>
              <a:prstDash val="solid"/>
              <a:miter/>
            </a:ln>
          </p:spPr>
          <p:txBody>
            <a:bodyPr/>
            <a:lstStyle/>
            <a:p>
              <a:endParaRPr lang="en-IN" dirty="0"/>
            </a:p>
          </p:txBody>
        </p:sp>
        <p:sp>
          <p:nvSpPr>
            <p:cNvPr id="8" name="TextBox 8"/>
            <p:cNvSpPr txBox="1"/>
            <p:nvPr/>
          </p:nvSpPr>
          <p:spPr>
            <a:xfrm>
              <a:off x="0" y="-66675"/>
              <a:ext cx="4637955" cy="2367399"/>
            </a:xfrm>
            <a:prstGeom prst="rect">
              <a:avLst/>
            </a:prstGeom>
            <a:grpFill/>
          </p:spPr>
          <p:txBody>
            <a:bodyPr lIns="50800" tIns="50800" rIns="50800" bIns="50800" rtlCol="0" anchor="ctr"/>
            <a:lstStyle/>
            <a:p>
              <a:pPr marL="518160" lvl="1" indent="-259080" algn="l">
                <a:lnSpc>
                  <a:spcPts val="3359"/>
                </a:lnSpc>
                <a:buFont typeface="Arial"/>
                <a:buChar char="•"/>
              </a:pPr>
              <a:endParaRPr/>
            </a:p>
          </p:txBody>
        </p:sp>
      </p:grpSp>
      <p:sp>
        <p:nvSpPr>
          <p:cNvPr id="9" name="TextBox 9"/>
          <p:cNvSpPr txBox="1"/>
          <p:nvPr/>
        </p:nvSpPr>
        <p:spPr>
          <a:xfrm>
            <a:off x="2512212" y="733318"/>
            <a:ext cx="13445279" cy="852798"/>
          </a:xfrm>
          <a:prstGeom prst="rect">
            <a:avLst/>
          </a:prstGeom>
        </p:spPr>
        <p:txBody>
          <a:bodyPr lIns="0" tIns="0" rIns="0" bIns="0" rtlCol="0" anchor="t">
            <a:spAutoFit/>
          </a:bodyPr>
          <a:lstStyle/>
          <a:p>
            <a:pPr algn="ctr">
              <a:lnSpc>
                <a:spcPts val="6999"/>
              </a:lnSpc>
            </a:pPr>
            <a:r>
              <a:rPr lang="en-US" sz="5000" b="1" dirty="0">
                <a:solidFill>
                  <a:srgbClr val="00569E"/>
                </a:solidFill>
                <a:latin typeface="Poppins Bold"/>
                <a:cs typeface="Poppins Bold"/>
                <a:sym typeface="Poppins Bold"/>
              </a:rPr>
              <a:t>Introduction to GAN</a:t>
            </a:r>
          </a:p>
        </p:txBody>
      </p:sp>
      <p:sp>
        <p:nvSpPr>
          <p:cNvPr id="10" name="TextBox 10"/>
          <p:cNvSpPr txBox="1"/>
          <p:nvPr/>
        </p:nvSpPr>
        <p:spPr>
          <a:xfrm>
            <a:off x="851683" y="1942898"/>
            <a:ext cx="16584634" cy="2163156"/>
          </a:xfrm>
          <a:prstGeom prst="rect">
            <a:avLst/>
          </a:prstGeom>
        </p:spPr>
        <p:txBody>
          <a:bodyPr lIns="0" tIns="0" rIns="0" bIns="0" rtlCol="0" anchor="t">
            <a:spAutoFit/>
          </a:bodyPr>
          <a:lstStyle/>
          <a:p>
            <a:pPr>
              <a:buNone/>
            </a:pPr>
            <a:r>
              <a:rPr lang="en-US" sz="2800" b="1" dirty="0"/>
              <a:t>What are GANs?</a:t>
            </a:r>
            <a:endParaRPr lang="en-US" sz="2800" dirty="0"/>
          </a:p>
          <a:p>
            <a:pPr>
              <a:buFont typeface="Arial" panose="020B0604020202020204" pitchFamily="34" charset="0"/>
              <a:buChar char="•"/>
            </a:pPr>
            <a:r>
              <a:rPr lang="en-US" sz="2800" dirty="0"/>
              <a:t>Generative Adversarial Networks (GANs) introduced by Ian Goodfellow in 2014.</a:t>
            </a:r>
          </a:p>
          <a:p>
            <a:pPr>
              <a:buFont typeface="Arial" panose="020B0604020202020204" pitchFamily="34" charset="0"/>
              <a:buChar char="•"/>
            </a:pPr>
            <a:r>
              <a:rPr lang="en-US" sz="2800" dirty="0"/>
              <a:t>Consist of a Generator (creates data) and a Discriminator (evaluates data).</a:t>
            </a:r>
          </a:p>
          <a:p>
            <a:pPr>
              <a:buFont typeface="Arial" panose="020B0604020202020204" pitchFamily="34" charset="0"/>
              <a:buChar char="•"/>
            </a:pPr>
            <a:r>
              <a:rPr lang="en-US" sz="2800" dirty="0"/>
              <a:t>Models compete in a minimax game: generator tries to fool, discriminator tries to detect.</a:t>
            </a:r>
          </a:p>
          <a:p>
            <a:pPr marL="280671" lvl="1">
              <a:lnSpc>
                <a:spcPts val="3640"/>
              </a:lnSpc>
            </a:pPr>
            <a:endParaRPr lang="en-US" sz="2600" dirty="0">
              <a:solidFill>
                <a:srgbClr val="FDFDFD"/>
              </a:solidFill>
              <a:latin typeface="Poppins"/>
              <a:ea typeface="Poppins"/>
              <a:cs typeface="Poppins"/>
              <a:sym typeface="Poppins"/>
            </a:endParaRPr>
          </a:p>
        </p:txBody>
      </p:sp>
      <p:sp>
        <p:nvSpPr>
          <p:cNvPr id="11" name="TextBox 10">
            <a:extLst>
              <a:ext uri="{FF2B5EF4-FFF2-40B4-BE49-F238E27FC236}">
                <a16:creationId xmlns:a16="http://schemas.microsoft.com/office/drawing/2014/main" id="{03DBEB72-E2B0-B1DA-4A8A-FF40C3E6501C}"/>
              </a:ext>
            </a:extLst>
          </p:cNvPr>
          <p:cNvSpPr txBox="1"/>
          <p:nvPr/>
        </p:nvSpPr>
        <p:spPr>
          <a:xfrm>
            <a:off x="863973" y="4312980"/>
            <a:ext cx="16584634" cy="1292662"/>
          </a:xfrm>
          <a:prstGeom prst="rect">
            <a:avLst/>
          </a:prstGeom>
        </p:spPr>
        <p:txBody>
          <a:bodyPr lIns="0" tIns="0" rIns="0" bIns="0" rtlCol="0" anchor="t">
            <a:spAutoFit/>
          </a:bodyPr>
          <a:lstStyle/>
          <a:p>
            <a:pPr>
              <a:buNone/>
            </a:pPr>
            <a:r>
              <a:rPr lang="en-US" sz="2800" b="1" dirty="0"/>
              <a:t>Specific Architectures:</a:t>
            </a:r>
            <a:endParaRPr lang="en-US" sz="2800" dirty="0"/>
          </a:p>
          <a:p>
            <a:pPr>
              <a:buFont typeface="Arial" panose="020B0604020202020204" pitchFamily="34" charset="0"/>
              <a:buChar char="•"/>
            </a:pPr>
            <a:r>
              <a:rPr lang="en-US" sz="2800" b="1" dirty="0"/>
              <a:t>DCGANs:</a:t>
            </a:r>
            <a:r>
              <a:rPr lang="en-US" sz="2800" dirty="0"/>
              <a:t> Use convolutional layers for improved image quality.</a:t>
            </a:r>
          </a:p>
          <a:p>
            <a:pPr>
              <a:buFont typeface="Arial" panose="020B0604020202020204" pitchFamily="34" charset="0"/>
              <a:buChar char="•"/>
            </a:pPr>
            <a:r>
              <a:rPr lang="en-US" sz="2800" b="1" dirty="0" err="1"/>
              <a:t>cGANs</a:t>
            </a:r>
            <a:r>
              <a:rPr lang="en-US" sz="2800" b="1" dirty="0"/>
              <a:t>:</a:t>
            </a:r>
            <a:r>
              <a:rPr lang="en-US" sz="2800" dirty="0"/>
              <a:t> Allow generation based on specific conditions (labels/classes).</a:t>
            </a:r>
          </a:p>
        </p:txBody>
      </p:sp>
      <p:sp>
        <p:nvSpPr>
          <p:cNvPr id="16" name="TextBox 15">
            <a:extLst>
              <a:ext uri="{FF2B5EF4-FFF2-40B4-BE49-F238E27FC236}">
                <a16:creationId xmlns:a16="http://schemas.microsoft.com/office/drawing/2014/main" id="{E88FE601-475A-5A28-CEF8-4BB1EDA2FBC9}"/>
              </a:ext>
            </a:extLst>
          </p:cNvPr>
          <p:cNvSpPr txBox="1"/>
          <p:nvPr/>
        </p:nvSpPr>
        <p:spPr>
          <a:xfrm>
            <a:off x="871348" y="6596342"/>
            <a:ext cx="16584634" cy="861774"/>
          </a:xfrm>
          <a:prstGeom prst="rect">
            <a:avLst/>
          </a:prstGeom>
        </p:spPr>
        <p:txBody>
          <a:bodyPr lIns="0" tIns="0" rIns="0" bIns="0" rtlCol="0" anchor="t">
            <a:spAutoFit/>
          </a:bodyPr>
          <a:lstStyle/>
          <a:p>
            <a:pPr>
              <a:buNone/>
            </a:pPr>
            <a:r>
              <a:rPr lang="en-US" sz="2800" b="1" dirty="0"/>
              <a:t>Use Cases:</a:t>
            </a:r>
            <a:r>
              <a:rPr lang="en-US" sz="2800" dirty="0"/>
              <a:t> GANs are widely used in image generation, video synthesis, and data augmentation.</a:t>
            </a:r>
          </a:p>
          <a:p>
            <a:pPr>
              <a:buNone/>
            </a:pPr>
            <a:r>
              <a:rPr lang="en-US" sz="2800" b="1" dirty="0"/>
              <a:t>Ethical Note:</a:t>
            </a:r>
            <a:r>
              <a:rPr lang="en-US" sz="2800" dirty="0"/>
              <a:t> Also pose ethical risks like deepfakes and misinformation.</a:t>
            </a:r>
            <a:r>
              <a:rPr lang="en-US" sz="2800" b="1" dirty="0"/>
              <a:t> </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028700" y="2666838"/>
            <a:ext cx="16230600" cy="6369051"/>
          </a:xfrm>
          <a:prstGeom prst="rect">
            <a:avLst/>
          </a:prstGeom>
        </p:spPr>
        <p:txBody>
          <a:bodyPr lIns="0" tIns="0" rIns="0" bIns="0" rtlCol="0" anchor="t">
            <a:spAutoFit/>
          </a:bodyPr>
          <a:lstStyle/>
          <a:p>
            <a:pPr marL="514350" indent="-514350">
              <a:lnSpc>
                <a:spcPts val="6300"/>
              </a:lnSpc>
              <a:buFont typeface="Wingdings" panose="05000000000000000000" pitchFamily="2" charset="2"/>
              <a:buChar char="q"/>
            </a:pPr>
            <a:r>
              <a:rPr lang="en-US" sz="3000" b="1" spc="-60" dirty="0">
                <a:latin typeface="Poppins Bold"/>
                <a:cs typeface="Poppins Bold"/>
                <a:sym typeface="Poppins"/>
              </a:rPr>
              <a:t>Core Problem: </a:t>
            </a:r>
            <a:r>
              <a:rPr lang="en-US" sz="3000" b="1" spc="-57" dirty="0">
                <a:solidFill>
                  <a:srgbClr val="00569E"/>
                </a:solidFill>
                <a:latin typeface="Poppins Bold"/>
                <a:cs typeface="Poppins Bold"/>
                <a:sym typeface="Poppins"/>
              </a:rPr>
              <a:t>Traditional generative models struggle with complex image distributions, lack control, and face training issues. This creates a need for advanced GANs to ensure realistic, diverse, and consistent image generation.</a:t>
            </a:r>
          </a:p>
          <a:p>
            <a:pPr marL="514350" indent="-514350">
              <a:lnSpc>
                <a:spcPts val="6300"/>
              </a:lnSpc>
              <a:buFont typeface="Wingdings" panose="05000000000000000000" pitchFamily="2" charset="2"/>
              <a:buChar char="q"/>
            </a:pPr>
            <a:r>
              <a:rPr lang="en-US" sz="3000" b="1" spc="-60" dirty="0">
                <a:latin typeface="Poppins Bold"/>
                <a:cs typeface="Poppins Bold"/>
                <a:sym typeface="Poppins"/>
              </a:rPr>
              <a:t>Data Limitations: </a:t>
            </a:r>
            <a:r>
              <a:rPr lang="en-US" sz="3000" b="1" spc="-57" dirty="0">
                <a:solidFill>
                  <a:srgbClr val="00569E"/>
                </a:solidFill>
                <a:latin typeface="Poppins Bold"/>
                <a:cs typeface="Poppins Bold"/>
                <a:sym typeface="Poppins"/>
              </a:rPr>
              <a:t>Real-world datasets are often small, costly, and imbalanced.</a:t>
            </a:r>
          </a:p>
          <a:p>
            <a:pPr marL="514350" indent="-514350">
              <a:lnSpc>
                <a:spcPts val="6300"/>
              </a:lnSpc>
              <a:buFont typeface="Wingdings" panose="05000000000000000000" pitchFamily="2" charset="2"/>
              <a:buChar char="q"/>
            </a:pPr>
            <a:r>
              <a:rPr lang="en-US" sz="3000" b="1" spc="-60" dirty="0">
                <a:latin typeface="Poppins Bold"/>
                <a:cs typeface="Poppins Bold"/>
                <a:sym typeface="Poppins"/>
              </a:rPr>
              <a:t>Modeling Challenges: </a:t>
            </a:r>
            <a:r>
              <a:rPr lang="en-US" sz="3000" b="1" spc="-57" dirty="0">
                <a:solidFill>
                  <a:srgbClr val="00569E"/>
                </a:solidFill>
                <a:latin typeface="Poppins Bold"/>
                <a:cs typeface="Poppins Bold"/>
                <a:sym typeface="Poppins"/>
              </a:rPr>
              <a:t>Difficulty capturing complex, high-dimensional image distributions.</a:t>
            </a:r>
          </a:p>
          <a:p>
            <a:pPr marL="514350" indent="-514350">
              <a:lnSpc>
                <a:spcPts val="6300"/>
              </a:lnSpc>
              <a:buFont typeface="Wingdings" panose="05000000000000000000" pitchFamily="2" charset="2"/>
              <a:buChar char="q"/>
            </a:pPr>
            <a:r>
              <a:rPr lang="en-US" sz="3000" b="1" spc="-60" dirty="0">
                <a:latin typeface="Poppins Bold"/>
                <a:cs typeface="Poppins Bold"/>
                <a:sym typeface="Poppins"/>
              </a:rPr>
              <a:t>Generation Issues: </a:t>
            </a:r>
            <a:r>
              <a:rPr lang="en-US" sz="3000" b="1" spc="-57" dirty="0">
                <a:solidFill>
                  <a:srgbClr val="00569E"/>
                </a:solidFill>
                <a:latin typeface="Poppins Bold"/>
                <a:cs typeface="Poppins Bold"/>
                <a:sym typeface="Poppins"/>
              </a:rPr>
              <a:t>Lack of class/content control, training instability, and no standard evaluation metric.</a:t>
            </a:r>
          </a:p>
        </p:txBody>
      </p:sp>
      <p:sp>
        <p:nvSpPr>
          <p:cNvPr id="6" name="TextBox 6"/>
          <p:cNvSpPr txBox="1"/>
          <p:nvPr/>
        </p:nvSpPr>
        <p:spPr>
          <a:xfrm>
            <a:off x="6222141" y="1069347"/>
            <a:ext cx="6469158" cy="901671"/>
          </a:xfrm>
          <a:prstGeom prst="rect">
            <a:avLst/>
          </a:prstGeom>
        </p:spPr>
        <p:txBody>
          <a:bodyPr lIns="0" tIns="0" rIns="0" bIns="0" rtlCol="0" anchor="t">
            <a:spAutoFit/>
          </a:bodyPr>
          <a:lstStyle/>
          <a:p>
            <a:pPr algn="l">
              <a:lnSpc>
                <a:spcPts val="7000"/>
              </a:lnSpc>
              <a:spcBef>
                <a:spcPct val="0"/>
              </a:spcBef>
            </a:pPr>
            <a:r>
              <a:rPr lang="en-US" sz="5000" b="1" dirty="0">
                <a:solidFill>
                  <a:srgbClr val="00569E"/>
                </a:solidFill>
                <a:latin typeface="Poppins Bold"/>
                <a:ea typeface="Poppins Bold"/>
                <a:cs typeface="Poppins Bold"/>
                <a:sym typeface="Poppins Bold"/>
              </a:rPr>
              <a:t>Problem Statement</a:t>
            </a:r>
          </a:p>
        </p:txBody>
      </p:sp>
      <p:grpSp>
        <p:nvGrpSpPr>
          <p:cNvPr id="7" name="Group 7"/>
          <p:cNvGrpSpPr/>
          <p:nvPr/>
        </p:nvGrpSpPr>
        <p:grpSpPr>
          <a:xfrm>
            <a:off x="15440456" y="7940477"/>
            <a:ext cx="4693046" cy="469304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990600" y="2937558"/>
            <a:ext cx="15423229" cy="4596130"/>
          </a:xfrm>
          <a:prstGeom prst="rect">
            <a:avLst/>
          </a:prstGeom>
        </p:spPr>
        <p:txBody>
          <a:bodyPr wrap="square" lIns="0" tIns="0" rIns="0" bIns="0" rtlCol="0" anchor="t">
            <a:spAutoFit/>
          </a:bodyPr>
          <a:lstStyle/>
          <a:p>
            <a:pPr marL="621196" lvl="1" indent="-310598" algn="just">
              <a:lnSpc>
                <a:spcPts val="4028"/>
              </a:lnSpc>
              <a:buFont typeface="Arial"/>
              <a:buChar char="•"/>
            </a:pPr>
            <a:r>
              <a:rPr lang="en-US" sz="3000" b="1" spc="-57" dirty="0">
                <a:solidFill>
                  <a:srgbClr val="00569E"/>
                </a:solidFill>
                <a:latin typeface="Poppins Bold"/>
                <a:cs typeface="Poppins Bold"/>
              </a:rPr>
              <a:t>To Implement DCGAN and </a:t>
            </a:r>
            <a:r>
              <a:rPr lang="en-US" sz="3000" b="1" spc="-57" dirty="0" err="1">
                <a:solidFill>
                  <a:srgbClr val="00569E"/>
                </a:solidFill>
                <a:latin typeface="Poppins Bold"/>
                <a:cs typeface="Poppins Bold"/>
              </a:rPr>
              <a:t>cGAN</a:t>
            </a:r>
            <a:r>
              <a:rPr lang="en-US" sz="3000" b="1" spc="-57" dirty="0">
                <a:solidFill>
                  <a:srgbClr val="00569E"/>
                </a:solidFill>
                <a:latin typeface="Poppins Bold"/>
                <a:cs typeface="Poppins Bold"/>
              </a:rPr>
              <a:t> architectures for realistic image generation.</a:t>
            </a:r>
          </a:p>
          <a:p>
            <a:pPr marL="310598" lvl="1" algn="just">
              <a:lnSpc>
                <a:spcPts val="4028"/>
              </a:lnSpc>
            </a:pPr>
            <a:endParaRPr lang="en-US" sz="3000" b="1" spc="-57" dirty="0">
              <a:solidFill>
                <a:srgbClr val="00569E"/>
              </a:solidFill>
              <a:latin typeface="Poppins Bold"/>
              <a:cs typeface="Poppins Bold"/>
              <a:sym typeface="Poppins Bold"/>
            </a:endParaRPr>
          </a:p>
          <a:p>
            <a:pPr marL="621196" lvl="1" indent="-310598" algn="just">
              <a:lnSpc>
                <a:spcPts val="4028"/>
              </a:lnSpc>
              <a:buFont typeface="Arial"/>
              <a:buChar char="•"/>
            </a:pPr>
            <a:r>
              <a:rPr lang="en-US" sz="3000" b="1" spc="-57" dirty="0">
                <a:solidFill>
                  <a:srgbClr val="00569E"/>
                </a:solidFill>
                <a:latin typeface="Poppins Bold"/>
                <a:cs typeface="Poppins Bold"/>
              </a:rPr>
              <a:t>To Train models on a dataset and evaluate outputs.</a:t>
            </a:r>
          </a:p>
          <a:p>
            <a:pPr marL="310598" lvl="1" algn="just">
              <a:lnSpc>
                <a:spcPts val="4028"/>
              </a:lnSpc>
            </a:pPr>
            <a:endParaRPr lang="en-US" sz="3000" b="1" spc="-57" dirty="0">
              <a:solidFill>
                <a:srgbClr val="00569E"/>
              </a:solidFill>
              <a:latin typeface="Poppins Bold"/>
              <a:cs typeface="Poppins Bold"/>
            </a:endParaRPr>
          </a:p>
          <a:p>
            <a:pPr marL="621196" lvl="1" indent="-310598" algn="just">
              <a:lnSpc>
                <a:spcPts val="4028"/>
              </a:lnSpc>
              <a:buFont typeface="Arial"/>
              <a:buChar char="•"/>
            </a:pPr>
            <a:r>
              <a:rPr lang="en-US" sz="3000" b="1" spc="-57" dirty="0">
                <a:solidFill>
                  <a:srgbClr val="00569E"/>
                </a:solidFill>
                <a:latin typeface="Poppins Bold"/>
                <a:cs typeface="Poppins Bold"/>
              </a:rPr>
              <a:t>To Compare the performance of DCGAN vs </a:t>
            </a:r>
            <a:r>
              <a:rPr lang="en-US" sz="3000" b="1" spc="-57" dirty="0" err="1">
                <a:solidFill>
                  <a:srgbClr val="00569E"/>
                </a:solidFill>
                <a:latin typeface="Poppins Bold"/>
                <a:cs typeface="Poppins Bold"/>
              </a:rPr>
              <a:t>cGAN</a:t>
            </a:r>
            <a:r>
              <a:rPr lang="en-US" sz="3000" b="1" spc="-57" dirty="0">
                <a:solidFill>
                  <a:srgbClr val="00569E"/>
                </a:solidFill>
                <a:latin typeface="Poppins Bold"/>
                <a:cs typeface="Poppins Bold"/>
              </a:rPr>
              <a:t> in terms of quality, consistency, and control.</a:t>
            </a:r>
          </a:p>
          <a:p>
            <a:pPr marL="310598" lvl="1" algn="just">
              <a:lnSpc>
                <a:spcPts val="4028"/>
              </a:lnSpc>
            </a:pPr>
            <a:endParaRPr lang="en-US" sz="3000" b="1" spc="-57" dirty="0">
              <a:solidFill>
                <a:srgbClr val="00569E"/>
              </a:solidFill>
              <a:latin typeface="Poppins Bold"/>
              <a:cs typeface="Poppins Bold"/>
            </a:endParaRPr>
          </a:p>
          <a:p>
            <a:pPr marL="621196" lvl="1" indent="-310598" algn="just">
              <a:lnSpc>
                <a:spcPts val="4028"/>
              </a:lnSpc>
              <a:buFont typeface="Arial"/>
              <a:buChar char="•"/>
            </a:pPr>
            <a:r>
              <a:rPr lang="en-US" sz="3000" b="1" spc="-57" dirty="0">
                <a:solidFill>
                  <a:srgbClr val="00569E"/>
                </a:solidFill>
                <a:latin typeface="Poppins Bold"/>
                <a:cs typeface="Poppins Bold"/>
              </a:rPr>
              <a:t>To Conclude with insights on strengths, weaknesses, and ethical applications.</a:t>
            </a:r>
            <a:endParaRPr lang="en-US" sz="3000" b="1" spc="-57" dirty="0">
              <a:solidFill>
                <a:srgbClr val="00569E"/>
              </a:solidFill>
              <a:latin typeface="Poppins Bold"/>
              <a:ea typeface="Poppins Bold"/>
              <a:cs typeface="Poppins Bold"/>
              <a:sym typeface="Poppins Bold"/>
            </a:endParaRPr>
          </a:p>
          <a:p>
            <a:pPr marL="621196" lvl="1" indent="-310598" algn="just">
              <a:lnSpc>
                <a:spcPts val="4028"/>
              </a:lnSpc>
              <a:buFont typeface="Arial"/>
              <a:buChar char="•"/>
            </a:pPr>
            <a:endParaRPr lang="en-US" sz="3000" b="1" spc="-57" dirty="0">
              <a:solidFill>
                <a:srgbClr val="00569E"/>
              </a:solidFill>
              <a:latin typeface="Poppins Bold"/>
              <a:ea typeface="Poppins Bold"/>
              <a:cs typeface="Poppins Bold"/>
              <a:sym typeface="Poppins Bold"/>
            </a:endParaRPr>
          </a:p>
        </p:txBody>
      </p:sp>
      <p:sp>
        <p:nvSpPr>
          <p:cNvPr id="6" name="TextBox 6"/>
          <p:cNvSpPr txBox="1"/>
          <p:nvPr/>
        </p:nvSpPr>
        <p:spPr>
          <a:xfrm>
            <a:off x="5909421" y="885825"/>
            <a:ext cx="6469158" cy="852798"/>
          </a:xfrm>
          <a:prstGeom prst="rect">
            <a:avLst/>
          </a:prstGeom>
        </p:spPr>
        <p:txBody>
          <a:bodyPr lIns="0" tIns="0" rIns="0" bIns="0" rtlCol="0" anchor="t">
            <a:spAutoFit/>
          </a:bodyPr>
          <a:lstStyle/>
          <a:p>
            <a:pPr algn="ctr">
              <a:lnSpc>
                <a:spcPts val="7000"/>
              </a:lnSpc>
              <a:spcBef>
                <a:spcPct val="0"/>
              </a:spcBef>
            </a:pPr>
            <a:r>
              <a:rPr lang="en-US" sz="5000" b="1" dirty="0">
                <a:solidFill>
                  <a:srgbClr val="00569E"/>
                </a:solidFill>
                <a:latin typeface="Poppins Bold"/>
                <a:ea typeface="Poppins Bold"/>
                <a:cs typeface="Poppins Bold"/>
                <a:sym typeface="Poppins Bold"/>
              </a:rPr>
              <a:t>Objectives</a:t>
            </a:r>
          </a:p>
        </p:txBody>
      </p:sp>
      <p:grpSp>
        <p:nvGrpSpPr>
          <p:cNvPr id="7" name="Group 7"/>
          <p:cNvGrpSpPr/>
          <p:nvPr/>
        </p:nvGrpSpPr>
        <p:grpSpPr>
          <a:xfrm>
            <a:off x="15440456" y="7940477"/>
            <a:ext cx="4693046" cy="469304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572086" y="-283954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021037" y="2705100"/>
            <a:ext cx="14419420" cy="5359159"/>
          </a:xfrm>
          <a:prstGeom prst="rect">
            <a:avLst/>
          </a:prstGeom>
        </p:spPr>
        <p:txBody>
          <a:bodyPr wrap="square" lIns="0" tIns="0" rIns="0" bIns="0" rtlCol="0" anchor="t">
            <a:spAutoFit/>
          </a:bodyPr>
          <a:lstStyle/>
          <a:p>
            <a:pPr marL="781051" lvl="1" indent="-457200">
              <a:lnSpc>
                <a:spcPts val="4200"/>
              </a:lnSpc>
              <a:buFont typeface="Wingdings" panose="05000000000000000000" pitchFamily="2" charset="2"/>
              <a:buChar char="q"/>
            </a:pPr>
            <a:r>
              <a:rPr lang="en-US" sz="3000" b="1" spc="-60" dirty="0">
                <a:latin typeface="Poppins Bold"/>
                <a:ea typeface="Poppins Bold"/>
                <a:cs typeface="Poppins Bold"/>
                <a:sym typeface="Poppins Bold"/>
              </a:rPr>
              <a:t>Mode Collapse : </a:t>
            </a:r>
            <a:r>
              <a:rPr lang="en-US" sz="3000" b="1" spc="-60" dirty="0">
                <a:solidFill>
                  <a:srgbClr val="00569E"/>
                </a:solidFill>
                <a:latin typeface="Poppins Bold"/>
                <a:ea typeface="Poppins Bold"/>
                <a:cs typeface="Poppins Bold"/>
                <a:sym typeface="Poppins Bold"/>
              </a:rPr>
              <a:t>Generator produces repetitive or limited outputs.</a:t>
            </a:r>
          </a:p>
          <a:p>
            <a:pPr marL="781051" lvl="1" indent="-457200">
              <a:lnSpc>
                <a:spcPts val="4200"/>
              </a:lnSpc>
              <a:buFont typeface="Wingdings" panose="05000000000000000000" pitchFamily="2" charset="2"/>
              <a:buChar char="q"/>
            </a:pPr>
            <a:r>
              <a:rPr lang="en-US" sz="3000" b="1" spc="-60" dirty="0">
                <a:latin typeface="Poppins Bold"/>
                <a:cs typeface="Poppins Bold"/>
                <a:sym typeface="Poppins Bold"/>
              </a:rPr>
              <a:t>Training Instability – </a:t>
            </a:r>
            <a:r>
              <a:rPr lang="en-US" sz="3000" b="1" spc="-60" dirty="0">
                <a:solidFill>
                  <a:srgbClr val="00569E"/>
                </a:solidFill>
                <a:latin typeface="Poppins Bold"/>
                <a:ea typeface="Poppins Bold"/>
                <a:cs typeface="Poppins Bold"/>
                <a:sym typeface="Poppins Bold"/>
              </a:rPr>
              <a:t>Difficult to maintain balance between generator and discriminator.</a:t>
            </a:r>
          </a:p>
          <a:p>
            <a:pPr marL="781051" lvl="1" indent="-457200">
              <a:lnSpc>
                <a:spcPts val="4200"/>
              </a:lnSpc>
              <a:buFont typeface="Wingdings" panose="05000000000000000000" pitchFamily="2" charset="2"/>
              <a:buChar char="q"/>
            </a:pPr>
            <a:r>
              <a:rPr lang="en-US" sz="3000" b="1" spc="-60" dirty="0">
                <a:latin typeface="Poppins Bold"/>
                <a:cs typeface="Poppins Bold"/>
                <a:sym typeface="Poppins Bold"/>
              </a:rPr>
              <a:t>High Computational Cost – </a:t>
            </a:r>
            <a:r>
              <a:rPr lang="en-US" sz="3000" b="1" spc="-60" dirty="0">
                <a:solidFill>
                  <a:srgbClr val="00569E"/>
                </a:solidFill>
                <a:latin typeface="Poppins Bold"/>
                <a:ea typeface="Poppins Bold"/>
                <a:cs typeface="Poppins Bold"/>
                <a:sym typeface="Poppins Bold"/>
              </a:rPr>
              <a:t>Requires powerful GPUs and long </a:t>
            </a:r>
            <a:r>
              <a:rPr lang="en-US" sz="3000" b="1" spc="-60" dirty="0">
                <a:solidFill>
                  <a:srgbClr val="00569E"/>
                </a:solidFill>
                <a:latin typeface="Poppins Bold"/>
                <a:cs typeface="Poppins Bold"/>
                <a:sym typeface="Poppins Bold"/>
              </a:rPr>
              <a:t>training times.</a:t>
            </a:r>
          </a:p>
          <a:p>
            <a:pPr marL="781051" lvl="1" indent="-457200">
              <a:lnSpc>
                <a:spcPts val="4200"/>
              </a:lnSpc>
              <a:buFont typeface="Wingdings" panose="05000000000000000000" pitchFamily="2" charset="2"/>
              <a:buChar char="q"/>
            </a:pPr>
            <a:r>
              <a:rPr lang="en-US" sz="3000" b="1" spc="-60" dirty="0">
                <a:latin typeface="Poppins Bold"/>
                <a:cs typeface="Poppins Bold"/>
                <a:sym typeface="Poppins Bold"/>
              </a:rPr>
              <a:t>Evaluation Difficulty –</a:t>
            </a:r>
            <a:r>
              <a:rPr lang="en-US" sz="3000" b="1" spc="-60" dirty="0">
                <a:solidFill>
                  <a:srgbClr val="00569E"/>
                </a:solidFill>
                <a:latin typeface="Poppins Bold"/>
                <a:cs typeface="Poppins Bold"/>
                <a:sym typeface="Poppins Bold"/>
              </a:rPr>
              <a:t>No standardized metrics for image quality assessment.</a:t>
            </a:r>
          </a:p>
          <a:p>
            <a:pPr marL="781051" lvl="1" indent="-457200">
              <a:lnSpc>
                <a:spcPts val="4200"/>
              </a:lnSpc>
              <a:buFont typeface="Wingdings" panose="05000000000000000000" pitchFamily="2" charset="2"/>
              <a:buChar char="q"/>
            </a:pPr>
            <a:r>
              <a:rPr lang="en-US" sz="3000" b="1" spc="-60" dirty="0">
                <a:latin typeface="Poppins Bold"/>
                <a:cs typeface="Poppins Bold"/>
                <a:sym typeface="Poppins Bold"/>
              </a:rPr>
              <a:t>Overfitting Risk – </a:t>
            </a:r>
            <a:r>
              <a:rPr lang="en-US" sz="3000" b="1" spc="-60" dirty="0">
                <a:solidFill>
                  <a:srgbClr val="00569E"/>
                </a:solidFill>
                <a:latin typeface="Poppins Bold"/>
                <a:ea typeface="Poppins Bold"/>
                <a:cs typeface="Poppins Bold"/>
                <a:sym typeface="Poppins Bold"/>
              </a:rPr>
              <a:t>Generator may memorize training samples.</a:t>
            </a:r>
          </a:p>
          <a:p>
            <a:pPr marL="781051" lvl="1" indent="-457200">
              <a:lnSpc>
                <a:spcPts val="4200"/>
              </a:lnSpc>
              <a:buFont typeface="Wingdings" panose="05000000000000000000" pitchFamily="2" charset="2"/>
              <a:buChar char="q"/>
            </a:pPr>
            <a:r>
              <a:rPr lang="en-US" sz="3000" b="1" spc="-60" dirty="0">
                <a:latin typeface="Poppins Bold"/>
                <a:cs typeface="Poppins Bold"/>
                <a:sym typeface="Poppins Bold"/>
              </a:rPr>
              <a:t>Ethical Risks – </a:t>
            </a:r>
            <a:r>
              <a:rPr lang="en-US" sz="3000" b="1" spc="-60" dirty="0">
                <a:solidFill>
                  <a:srgbClr val="00569E"/>
                </a:solidFill>
                <a:latin typeface="Poppins Bold"/>
                <a:ea typeface="Poppins Bold"/>
                <a:cs typeface="Poppins Bold"/>
                <a:sym typeface="Poppins Bold"/>
              </a:rPr>
              <a:t>Misuse for deepfakes, fake content, and bias propagation.</a:t>
            </a:r>
          </a:p>
        </p:txBody>
      </p:sp>
      <p:sp>
        <p:nvSpPr>
          <p:cNvPr id="6" name="TextBox 6"/>
          <p:cNvSpPr txBox="1"/>
          <p:nvPr/>
        </p:nvSpPr>
        <p:spPr>
          <a:xfrm>
            <a:off x="2807073" y="515951"/>
            <a:ext cx="12633384" cy="892148"/>
          </a:xfrm>
          <a:prstGeom prst="rect">
            <a:avLst/>
          </a:prstGeom>
        </p:spPr>
        <p:txBody>
          <a:bodyPr lIns="0" tIns="0" rIns="0" bIns="0" rtlCol="0" anchor="t">
            <a:spAutoFit/>
          </a:bodyPr>
          <a:lstStyle/>
          <a:p>
            <a:pPr algn="ctr">
              <a:lnSpc>
                <a:spcPts val="6999"/>
              </a:lnSpc>
              <a:spcBef>
                <a:spcPct val="0"/>
              </a:spcBef>
            </a:pPr>
            <a:r>
              <a:rPr lang="en-US" sz="4999" b="1">
                <a:solidFill>
                  <a:srgbClr val="00569E"/>
                </a:solidFill>
                <a:latin typeface="Poppins Bold"/>
                <a:ea typeface="Poppins Bold"/>
                <a:cs typeface="Poppins Bold"/>
                <a:sym typeface="Poppins Bold"/>
              </a:rPr>
              <a:t>Challenges</a:t>
            </a:r>
          </a:p>
        </p:txBody>
      </p:sp>
      <p:grpSp>
        <p:nvGrpSpPr>
          <p:cNvPr id="7" name="Group 7"/>
          <p:cNvGrpSpPr/>
          <p:nvPr/>
        </p:nvGrpSpPr>
        <p:grpSpPr>
          <a:xfrm>
            <a:off x="16330883" y="8329883"/>
            <a:ext cx="4693046" cy="469304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5440456" y="7940477"/>
            <a:ext cx="4693046" cy="469304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3632268" y="885825"/>
            <a:ext cx="11023465" cy="901673"/>
          </a:xfrm>
          <a:prstGeom prst="rect">
            <a:avLst/>
          </a:prstGeom>
        </p:spPr>
        <p:txBody>
          <a:bodyPr lIns="0" tIns="0" rIns="0" bIns="0" rtlCol="0" anchor="t">
            <a:spAutoFit/>
          </a:bodyPr>
          <a:lstStyle/>
          <a:p>
            <a:pPr algn="ctr">
              <a:lnSpc>
                <a:spcPts val="7000"/>
              </a:lnSpc>
              <a:spcBef>
                <a:spcPct val="0"/>
              </a:spcBef>
            </a:pPr>
            <a:r>
              <a:rPr lang="en-US" sz="5000" b="1">
                <a:solidFill>
                  <a:srgbClr val="00569E"/>
                </a:solidFill>
                <a:latin typeface="Poppins Bold"/>
                <a:ea typeface="Poppins Bold"/>
                <a:cs typeface="Poppins Bold"/>
                <a:sym typeface="Poppins Bold"/>
              </a:rPr>
              <a:t>Implementation</a:t>
            </a:r>
          </a:p>
        </p:txBody>
      </p:sp>
      <p:sp>
        <p:nvSpPr>
          <p:cNvPr id="10" name="TextBox 5">
            <a:extLst>
              <a:ext uri="{FF2B5EF4-FFF2-40B4-BE49-F238E27FC236}">
                <a16:creationId xmlns:a16="http://schemas.microsoft.com/office/drawing/2014/main" id="{BFF542FD-61A9-7AEB-7BEA-E2D0DDB1EDD9}"/>
              </a:ext>
            </a:extLst>
          </p:cNvPr>
          <p:cNvSpPr txBox="1"/>
          <p:nvPr/>
        </p:nvSpPr>
        <p:spPr>
          <a:xfrm>
            <a:off x="1445592" y="3749986"/>
            <a:ext cx="14017940" cy="4813369"/>
          </a:xfrm>
          <a:prstGeom prst="rect">
            <a:avLst/>
          </a:prstGeom>
        </p:spPr>
        <p:txBody>
          <a:bodyPr wrap="square" lIns="0" tIns="0" rIns="0" bIns="0" rtlCol="0" anchor="t">
            <a:spAutoFit/>
          </a:bodyPr>
          <a:lstStyle/>
          <a:p>
            <a:pPr marL="781051" lvl="1" indent="-457200">
              <a:lnSpc>
                <a:spcPts val="4200"/>
              </a:lnSpc>
              <a:buFont typeface="Wingdings" panose="05000000000000000000" pitchFamily="2" charset="2"/>
              <a:buChar char="q"/>
            </a:pPr>
            <a:r>
              <a:rPr lang="en-US" sz="2800" b="1" spc="-60" dirty="0">
                <a:latin typeface="Poppins Bold"/>
                <a:ea typeface="Poppins Bold"/>
                <a:cs typeface="Poppins Bold"/>
                <a:sym typeface="Poppins Bold"/>
              </a:rPr>
              <a:t>Dataset U</a:t>
            </a:r>
            <a:r>
              <a:rPr lang="en-US" sz="2400" b="1" spc="-60" dirty="0">
                <a:latin typeface="Poppins Bold"/>
                <a:ea typeface="Poppins Bold"/>
                <a:cs typeface="Poppins Bold"/>
                <a:sym typeface="Poppins Bold"/>
              </a:rPr>
              <a:t>sed</a:t>
            </a:r>
            <a:r>
              <a:rPr lang="en-US" sz="2800" b="1" spc="-60" dirty="0">
                <a:latin typeface="Poppins Bold"/>
                <a:ea typeface="Poppins Bold"/>
                <a:cs typeface="Poppins Bold"/>
                <a:sym typeface="Poppins Bold"/>
              </a:rPr>
              <a:t> : </a:t>
            </a:r>
            <a:r>
              <a:rPr lang="en-IN" sz="2800" b="1" spc="-60" dirty="0">
                <a:latin typeface="Poppins Bold"/>
                <a:ea typeface="Poppins Bold"/>
                <a:cs typeface="Poppins Bold"/>
                <a:sym typeface="Poppins Bold"/>
              </a:rPr>
              <a:t> </a:t>
            </a:r>
            <a:r>
              <a:rPr lang="en-IN" sz="2800" b="1" spc="-60" dirty="0">
                <a:solidFill>
                  <a:srgbClr val="00569E"/>
                </a:solidFill>
                <a:latin typeface="Poppins Bold"/>
                <a:ea typeface="Poppins Bold"/>
                <a:cs typeface="Poppins Bold"/>
                <a:sym typeface="Poppins Bold"/>
              </a:rPr>
              <a:t>Fashion MNIST</a:t>
            </a:r>
          </a:p>
          <a:p>
            <a:pPr marL="323851" lvl="1">
              <a:lnSpc>
                <a:spcPts val="4200"/>
              </a:lnSpc>
            </a:pPr>
            <a:r>
              <a:rPr lang="en-US" sz="2800" b="1" spc="-60" dirty="0">
                <a:solidFill>
                  <a:srgbClr val="00569E"/>
                </a:solidFill>
                <a:latin typeface="Poppins Bold"/>
                <a:cs typeface="Poppins Bold"/>
              </a:rPr>
              <a:t>For implementation, we used the MNIST dataset, a widely recognized benchmark in computer vision research. </a:t>
            </a:r>
          </a:p>
          <a:p>
            <a:pPr marL="323851" lvl="1">
              <a:lnSpc>
                <a:spcPts val="4200"/>
              </a:lnSpc>
            </a:pPr>
            <a:endParaRPr lang="en-US" sz="2800" b="1" spc="-60" dirty="0">
              <a:solidFill>
                <a:srgbClr val="00569E"/>
              </a:solidFill>
              <a:latin typeface="Poppins Bold"/>
              <a:cs typeface="Poppins Bold"/>
            </a:endParaRPr>
          </a:p>
          <a:p>
            <a:pPr marL="781051" lvl="1" indent="-457200">
              <a:lnSpc>
                <a:spcPts val="4200"/>
              </a:lnSpc>
              <a:buFont typeface="Wingdings" panose="05000000000000000000" pitchFamily="2" charset="2"/>
              <a:buChar char="q"/>
            </a:pPr>
            <a:r>
              <a:rPr lang="en-US" sz="2800" b="1" spc="-60" dirty="0">
                <a:solidFill>
                  <a:srgbClr val="00569E"/>
                </a:solidFill>
                <a:latin typeface="Poppins Bold"/>
                <a:cs typeface="Poppins Bold"/>
              </a:rPr>
              <a:t>It consists of 60,000 training images and 10,000 test images, each being a 28x28 grayscale digit (0–9). </a:t>
            </a:r>
          </a:p>
          <a:p>
            <a:pPr marL="323851" lvl="1">
              <a:lnSpc>
                <a:spcPts val="4200"/>
              </a:lnSpc>
            </a:pPr>
            <a:endParaRPr lang="en-US" sz="2800" b="1" spc="-60" dirty="0">
              <a:solidFill>
                <a:srgbClr val="00569E"/>
              </a:solidFill>
              <a:latin typeface="Poppins Bold"/>
              <a:cs typeface="Poppins Bold"/>
            </a:endParaRPr>
          </a:p>
          <a:p>
            <a:pPr marL="781051" lvl="1" indent="-457200">
              <a:lnSpc>
                <a:spcPts val="4200"/>
              </a:lnSpc>
              <a:buFont typeface="Wingdings" panose="05000000000000000000" pitchFamily="2" charset="2"/>
              <a:buChar char="q"/>
            </a:pPr>
            <a:r>
              <a:rPr lang="en-US" sz="2800" b="1" spc="-60" dirty="0">
                <a:solidFill>
                  <a:srgbClr val="00569E"/>
                </a:solidFill>
                <a:latin typeface="Poppins Bold"/>
                <a:cs typeface="Poppins Bold"/>
              </a:rPr>
              <a:t>MNIST was chosen due to its simplicity, structured representation, and suitability for testing generative models in producing recognizable outputs. </a:t>
            </a:r>
            <a:endParaRPr lang="en-US" sz="2800" b="1" spc="-60" dirty="0">
              <a:solidFill>
                <a:srgbClr val="00569E"/>
              </a:solidFill>
              <a:latin typeface="Poppins Bold"/>
              <a:cs typeface="Poppins Bold"/>
              <a:sym typeface="Poppins"/>
            </a:endParaRPr>
          </a:p>
        </p:txBody>
      </p:sp>
      <p:sp>
        <p:nvSpPr>
          <p:cNvPr id="12" name="TextBox 11">
            <a:extLst>
              <a:ext uri="{FF2B5EF4-FFF2-40B4-BE49-F238E27FC236}">
                <a16:creationId xmlns:a16="http://schemas.microsoft.com/office/drawing/2014/main" id="{734ABA4E-2B9B-5E6F-995E-1975735FD0FD}"/>
              </a:ext>
            </a:extLst>
          </p:cNvPr>
          <p:cNvSpPr txBox="1"/>
          <p:nvPr/>
        </p:nvSpPr>
        <p:spPr>
          <a:xfrm>
            <a:off x="1445592" y="2295545"/>
            <a:ext cx="15623207" cy="1446550"/>
          </a:xfrm>
          <a:prstGeom prst="rect">
            <a:avLst/>
          </a:prstGeom>
          <a:noFill/>
        </p:spPr>
        <p:txBody>
          <a:bodyPr wrap="square" rtlCol="0">
            <a:spAutoFit/>
          </a:bodyPr>
          <a:lstStyle/>
          <a:p>
            <a:pPr marL="781051" lvl="1" indent="-457200">
              <a:lnSpc>
                <a:spcPts val="4200"/>
              </a:lnSpc>
              <a:buFont typeface="Wingdings" panose="05000000000000000000" pitchFamily="2" charset="2"/>
              <a:buChar char="q"/>
            </a:pPr>
            <a:r>
              <a:rPr lang="en-US" sz="2400" b="1" spc="-60" dirty="0">
                <a:latin typeface="Poppins Bold"/>
                <a:cs typeface="Poppins Bold"/>
                <a:sym typeface="Poppins Bold"/>
              </a:rPr>
              <a:t>Google </a:t>
            </a:r>
            <a:r>
              <a:rPr lang="en-US" sz="2400" b="1" spc="-60" dirty="0" err="1">
                <a:latin typeface="Poppins Bold"/>
                <a:cs typeface="Poppins Bold"/>
                <a:sym typeface="Poppins Bold"/>
              </a:rPr>
              <a:t>Colab</a:t>
            </a:r>
            <a:r>
              <a:rPr lang="en-US" sz="2400" b="1" spc="-60" dirty="0">
                <a:latin typeface="Poppins Bold"/>
                <a:cs typeface="Poppins Bold"/>
                <a:sym typeface="Poppins Bold"/>
              </a:rPr>
              <a:t> Link: </a:t>
            </a:r>
            <a:r>
              <a:rPr lang="en-US" sz="2400" b="1" spc="-60" dirty="0">
                <a:latin typeface="Poppins Bold"/>
                <a:cs typeface="Poppins Bold"/>
                <a:sym typeface="Poppins"/>
              </a:rPr>
              <a:t> </a:t>
            </a:r>
            <a:r>
              <a:rPr lang="en-US" sz="2400" b="1" spc="-60" dirty="0">
                <a:solidFill>
                  <a:srgbClr val="00569E"/>
                </a:solidFill>
                <a:latin typeface="Poppins Bold"/>
                <a:cs typeface="Poppins Bold"/>
                <a:sym typeface="Poppins"/>
                <a:hlinkClick r:id="rId2">
                  <a:extLst>
                    <a:ext uri="{A12FA001-AC4F-418D-AE19-62706E023703}">
                      <ahyp:hlinkClr xmlns:ahyp="http://schemas.microsoft.com/office/drawing/2018/hyperlinkcolor" val="tx"/>
                    </a:ext>
                  </a:extLst>
                </a:hlinkClick>
              </a:rPr>
              <a:t>https://colab.research.google.com/drive/1OOaoV86XC42tPXoXDEXlcvbF2jMBRTK5?usp=sharing</a:t>
            </a:r>
            <a:endParaRPr lang="en-US" sz="2400" b="1" spc="-60" dirty="0">
              <a:solidFill>
                <a:srgbClr val="00569E"/>
              </a:solidFill>
              <a:latin typeface="Poppins Bold"/>
              <a:cs typeface="Poppins Bold"/>
              <a:sym typeface="Poppins"/>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428501" y="-2522722"/>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6740903" y="8463497"/>
            <a:ext cx="4868544" cy="4693046"/>
            <a:chOff x="76200" y="19050"/>
            <a:chExt cx="843195" cy="812800"/>
          </a:xfrm>
        </p:grpSpPr>
        <p:sp>
          <p:nvSpPr>
            <p:cNvPr id="6" name="Freeform 6"/>
            <p:cNvSpPr/>
            <p:nvPr/>
          </p:nvSpPr>
          <p:spPr>
            <a:xfrm>
              <a:off x="106595" y="1905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dirty="0"/>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3632268" y="885825"/>
            <a:ext cx="11023465" cy="901673"/>
          </a:xfrm>
          <a:prstGeom prst="rect">
            <a:avLst/>
          </a:prstGeom>
        </p:spPr>
        <p:txBody>
          <a:bodyPr lIns="0" tIns="0" rIns="0" bIns="0" rtlCol="0" anchor="t">
            <a:spAutoFit/>
          </a:bodyPr>
          <a:lstStyle/>
          <a:p>
            <a:pPr algn="ctr">
              <a:lnSpc>
                <a:spcPts val="7000"/>
              </a:lnSpc>
              <a:spcBef>
                <a:spcPct val="0"/>
              </a:spcBef>
            </a:pPr>
            <a:r>
              <a:rPr lang="en-US" sz="5000" b="1">
                <a:solidFill>
                  <a:srgbClr val="00569E"/>
                </a:solidFill>
                <a:latin typeface="Poppins Bold"/>
                <a:ea typeface="Poppins Bold"/>
                <a:cs typeface="Poppins Bold"/>
                <a:sym typeface="Poppins Bold"/>
              </a:rPr>
              <a:t>Implementation Output</a:t>
            </a:r>
          </a:p>
        </p:txBody>
      </p:sp>
      <p:sp>
        <p:nvSpPr>
          <p:cNvPr id="11" name="TextBox 11"/>
          <p:cNvSpPr txBox="1"/>
          <p:nvPr/>
        </p:nvSpPr>
        <p:spPr>
          <a:xfrm>
            <a:off x="3511281" y="2032225"/>
            <a:ext cx="1505735" cy="542871"/>
          </a:xfrm>
          <a:prstGeom prst="rect">
            <a:avLst/>
          </a:prstGeom>
        </p:spPr>
        <p:txBody>
          <a:bodyPr lIns="0" tIns="0" rIns="0" bIns="0" rtlCol="0" anchor="t">
            <a:spAutoFit/>
          </a:bodyPr>
          <a:lstStyle/>
          <a:p>
            <a:pPr algn="ctr">
              <a:lnSpc>
                <a:spcPts val="4200"/>
              </a:lnSpc>
              <a:spcBef>
                <a:spcPct val="0"/>
              </a:spcBef>
            </a:pPr>
            <a:r>
              <a:rPr lang="en-US" sz="3000" b="1">
                <a:solidFill>
                  <a:srgbClr val="00569E"/>
                </a:solidFill>
                <a:latin typeface="Poppins Bold"/>
                <a:ea typeface="Poppins Bold"/>
                <a:cs typeface="Poppins Bold"/>
                <a:sym typeface="Poppins Bold"/>
              </a:rPr>
              <a:t>DCGAN </a:t>
            </a:r>
          </a:p>
        </p:txBody>
      </p:sp>
      <p:sp>
        <p:nvSpPr>
          <p:cNvPr id="12" name="TextBox 12"/>
          <p:cNvSpPr txBox="1"/>
          <p:nvPr/>
        </p:nvSpPr>
        <p:spPr>
          <a:xfrm>
            <a:off x="12264495" y="2032225"/>
            <a:ext cx="1519129" cy="542871"/>
          </a:xfrm>
          <a:prstGeom prst="rect">
            <a:avLst/>
          </a:prstGeom>
        </p:spPr>
        <p:txBody>
          <a:bodyPr lIns="0" tIns="0" rIns="0" bIns="0" rtlCol="0" anchor="t">
            <a:spAutoFit/>
          </a:bodyPr>
          <a:lstStyle/>
          <a:p>
            <a:pPr algn="ctr">
              <a:lnSpc>
                <a:spcPts val="4200"/>
              </a:lnSpc>
              <a:spcBef>
                <a:spcPct val="0"/>
              </a:spcBef>
            </a:pPr>
            <a:r>
              <a:rPr lang="en-US" sz="3000" b="1">
                <a:solidFill>
                  <a:srgbClr val="00569E"/>
                </a:solidFill>
                <a:latin typeface="Poppins Bold"/>
                <a:ea typeface="Poppins Bold"/>
                <a:cs typeface="Poppins Bold"/>
                <a:sym typeface="Poppins Bold"/>
              </a:rPr>
              <a:t>CCGAN </a:t>
            </a:r>
          </a:p>
        </p:txBody>
      </p:sp>
      <p:pic>
        <p:nvPicPr>
          <p:cNvPr id="9" name="Picture 8" descr="A collage of different clothes&#10;&#10;AI-generated content may be incorrect.">
            <a:extLst>
              <a:ext uri="{FF2B5EF4-FFF2-40B4-BE49-F238E27FC236}">
                <a16:creationId xmlns:a16="http://schemas.microsoft.com/office/drawing/2014/main" id="{74BB3E02-1E22-F888-4C44-EF26461DCA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3111603"/>
            <a:ext cx="6367382" cy="7118326"/>
          </a:xfrm>
          <a:prstGeom prst="rect">
            <a:avLst/>
          </a:prstGeom>
        </p:spPr>
      </p:pic>
      <p:pic>
        <p:nvPicPr>
          <p:cNvPr id="15" name="Picture 14" descr="A screenshot of a black and white photo of a collage of clothes&#10;&#10;AI-generated content may be incorrect.">
            <a:extLst>
              <a:ext uri="{FF2B5EF4-FFF2-40B4-BE49-F238E27FC236}">
                <a16:creationId xmlns:a16="http://schemas.microsoft.com/office/drawing/2014/main" id="{02C36DB2-CF56-FEEE-92DC-336274D68D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9800" y="3111603"/>
            <a:ext cx="5951095" cy="66529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AB4E0BFF-3D74-DF77-3836-2FCCCCA0D33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6F677AA-001E-7199-4E9A-AAF468D5173A}"/>
              </a:ext>
            </a:extLst>
          </p:cNvPr>
          <p:cNvSpPr/>
          <p:nvPr/>
        </p:nvSpPr>
        <p:spPr>
          <a:xfrm>
            <a:off x="9861448" y="1892091"/>
            <a:ext cx="6248400" cy="60339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 name="Group 2">
            <a:extLst>
              <a:ext uri="{FF2B5EF4-FFF2-40B4-BE49-F238E27FC236}">
                <a16:creationId xmlns:a16="http://schemas.microsoft.com/office/drawing/2014/main" id="{97CFBC51-8172-26DF-3D33-6E425C51DDC7}"/>
              </a:ext>
            </a:extLst>
          </p:cNvPr>
          <p:cNvGrpSpPr/>
          <p:nvPr/>
        </p:nvGrpSpPr>
        <p:grpSpPr>
          <a:xfrm>
            <a:off x="-2123887" y="-2346523"/>
            <a:ext cx="4693046" cy="4693046"/>
            <a:chOff x="0" y="0"/>
            <a:chExt cx="812800" cy="812800"/>
          </a:xfrm>
        </p:grpSpPr>
        <p:sp>
          <p:nvSpPr>
            <p:cNvPr id="3" name="Freeform 3">
              <a:extLst>
                <a:ext uri="{FF2B5EF4-FFF2-40B4-BE49-F238E27FC236}">
                  <a16:creationId xmlns:a16="http://schemas.microsoft.com/office/drawing/2014/main" id="{BFD2F436-6B4D-E546-8ADB-D4C93BA4027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4" name="TextBox 4">
              <a:extLst>
                <a:ext uri="{FF2B5EF4-FFF2-40B4-BE49-F238E27FC236}">
                  <a16:creationId xmlns:a16="http://schemas.microsoft.com/office/drawing/2014/main" id="{DA3920D3-9614-E832-936E-56E7F2335DE9}"/>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812ED916-1C62-CEC0-AD5E-D49FCEE5AE6A}"/>
              </a:ext>
            </a:extLst>
          </p:cNvPr>
          <p:cNvGrpSpPr/>
          <p:nvPr/>
        </p:nvGrpSpPr>
        <p:grpSpPr>
          <a:xfrm>
            <a:off x="15440456" y="7940477"/>
            <a:ext cx="4693046" cy="4693046"/>
            <a:chOff x="0" y="0"/>
            <a:chExt cx="812800" cy="812800"/>
          </a:xfrm>
        </p:grpSpPr>
        <p:sp>
          <p:nvSpPr>
            <p:cNvPr id="6" name="Freeform 6">
              <a:extLst>
                <a:ext uri="{FF2B5EF4-FFF2-40B4-BE49-F238E27FC236}">
                  <a16:creationId xmlns:a16="http://schemas.microsoft.com/office/drawing/2014/main" id="{32633468-ABBD-B2FF-B7FC-82D0BC4A38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7" name="TextBox 7">
              <a:extLst>
                <a:ext uri="{FF2B5EF4-FFF2-40B4-BE49-F238E27FC236}">
                  <a16:creationId xmlns:a16="http://schemas.microsoft.com/office/drawing/2014/main" id="{6442A097-8544-2140-2718-7D438DEE51BF}"/>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a:extLst>
              <a:ext uri="{FF2B5EF4-FFF2-40B4-BE49-F238E27FC236}">
                <a16:creationId xmlns:a16="http://schemas.microsoft.com/office/drawing/2014/main" id="{B74B1E3F-05E6-8E4D-F6E4-A2B5CABB11B0}"/>
              </a:ext>
            </a:extLst>
          </p:cNvPr>
          <p:cNvSpPr txBox="1"/>
          <p:nvPr/>
        </p:nvSpPr>
        <p:spPr>
          <a:xfrm>
            <a:off x="3632268" y="885825"/>
            <a:ext cx="11023465" cy="852798"/>
          </a:xfrm>
          <a:prstGeom prst="rect">
            <a:avLst/>
          </a:prstGeom>
        </p:spPr>
        <p:txBody>
          <a:bodyPr lIns="0" tIns="0" rIns="0" bIns="0" rtlCol="0" anchor="t">
            <a:spAutoFit/>
          </a:bodyPr>
          <a:lstStyle/>
          <a:p>
            <a:pPr algn="ctr">
              <a:lnSpc>
                <a:spcPts val="7000"/>
              </a:lnSpc>
              <a:spcBef>
                <a:spcPct val="0"/>
              </a:spcBef>
            </a:pPr>
            <a:r>
              <a:rPr lang="en-US" sz="5000" b="1" dirty="0">
                <a:solidFill>
                  <a:srgbClr val="00569E"/>
                </a:solidFill>
                <a:latin typeface="Poppins Bold"/>
                <a:ea typeface="Poppins Bold"/>
                <a:cs typeface="Poppins Bold"/>
                <a:sym typeface="Poppins Bold"/>
              </a:rPr>
              <a:t>Comparative Analysis</a:t>
            </a:r>
          </a:p>
        </p:txBody>
      </p:sp>
      <p:pic>
        <p:nvPicPr>
          <p:cNvPr id="11" name="Picture 10">
            <a:extLst>
              <a:ext uri="{FF2B5EF4-FFF2-40B4-BE49-F238E27FC236}">
                <a16:creationId xmlns:a16="http://schemas.microsoft.com/office/drawing/2014/main" id="{5A727150-5D4F-1250-7091-2782AA2DC268}"/>
              </a:ext>
            </a:extLst>
          </p:cNvPr>
          <p:cNvPicPr>
            <a:picLocks noChangeAspect="1"/>
          </p:cNvPicPr>
          <p:nvPr/>
        </p:nvPicPr>
        <p:blipFill>
          <a:blip r:embed="rId2"/>
          <a:stretch>
            <a:fillRect/>
          </a:stretch>
        </p:blipFill>
        <p:spPr>
          <a:xfrm>
            <a:off x="9992030" y="2062767"/>
            <a:ext cx="5987237" cy="5692576"/>
          </a:xfrm>
          <a:prstGeom prst="rect">
            <a:avLst/>
          </a:prstGeom>
        </p:spPr>
      </p:pic>
      <p:sp>
        <p:nvSpPr>
          <p:cNvPr id="9" name="Rectangle 1">
            <a:extLst>
              <a:ext uri="{FF2B5EF4-FFF2-40B4-BE49-F238E27FC236}">
                <a16:creationId xmlns:a16="http://schemas.microsoft.com/office/drawing/2014/main" id="{7CE37CF3-4007-EADA-2443-83480DC0CF67}"/>
              </a:ext>
            </a:extLst>
          </p:cNvPr>
          <p:cNvSpPr>
            <a:spLocks noChangeArrowheads="1"/>
          </p:cNvSpPr>
          <p:nvPr/>
        </p:nvSpPr>
        <p:spPr bwMode="auto">
          <a:xfrm rot="10800000" flipV="1">
            <a:off x="990600" y="3121342"/>
            <a:ext cx="882197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3200" dirty="0"/>
              <a:t>In comparing DCGAN and </a:t>
            </a:r>
            <a:r>
              <a:rPr lang="en-US" sz="3200" dirty="0" err="1"/>
              <a:t>cGAN</a:t>
            </a:r>
            <a:r>
              <a:rPr lang="en-US" sz="3200" dirty="0"/>
              <a:t>, our results show that </a:t>
            </a:r>
            <a:r>
              <a:rPr lang="en-US" sz="3200" b="1" dirty="0"/>
              <a:t>DCGAN achieved a lower FID score (52.67) compared to </a:t>
            </a:r>
            <a:r>
              <a:rPr lang="en-US" sz="3200" b="1" dirty="0" err="1"/>
              <a:t>cGAN</a:t>
            </a:r>
            <a:r>
              <a:rPr lang="en-US" sz="3200" b="1" dirty="0"/>
              <a:t> (56.04)</a:t>
            </a:r>
            <a:r>
              <a:rPr lang="en-US" sz="3200" dirty="0"/>
              <a:t>, indicating higher image quality and closer resemblance to real data. DCGAN’s outputs were generally sharper and visually more appealing, making it well-suited for generic image synthesis. On the other hand, </a:t>
            </a:r>
            <a:r>
              <a:rPr lang="en-US" sz="3200" dirty="0" err="1"/>
              <a:t>cGAN</a:t>
            </a:r>
            <a:r>
              <a:rPr lang="en-US" sz="3200" dirty="0"/>
              <a:t> demonstrated its strength in </a:t>
            </a:r>
            <a:r>
              <a:rPr lang="en-US" sz="3200" b="1" dirty="0"/>
              <a:t>conditional generation</a:t>
            </a:r>
            <a:r>
              <a:rPr lang="en-US" sz="3200" dirty="0"/>
              <a:t>, producing class-specific images with greater control, although at the cost of slightly lower quality. Overall, </a:t>
            </a:r>
            <a:r>
              <a:rPr lang="en-US" sz="3200" b="1" dirty="0"/>
              <a:t>DCGAN outperforms in quality</a:t>
            </a:r>
            <a:r>
              <a:rPr lang="en-US" sz="3200" dirty="0"/>
              <a:t>.</a:t>
            </a:r>
            <a:endParaRPr lang="en-US" altLang="en-US" sz="3000" b="1" dirty="0">
              <a:solidFill>
                <a:srgbClr val="00569E"/>
              </a:solidFill>
              <a:latin typeface="Poppins Bold"/>
              <a:cs typeface="Poppins Bold"/>
            </a:endParaRPr>
          </a:p>
        </p:txBody>
      </p:sp>
    </p:spTree>
    <p:extLst>
      <p:ext uri="{BB962C8B-B14F-4D97-AF65-F5344CB8AC3E}">
        <p14:creationId xmlns:p14="http://schemas.microsoft.com/office/powerpoint/2010/main" val="345157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68421E27-0DE0-3AA8-AB68-D115356F921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00F367-DB68-DFDE-5488-D80EDF55BB9A}"/>
              </a:ext>
            </a:extLst>
          </p:cNvPr>
          <p:cNvGrpSpPr/>
          <p:nvPr/>
        </p:nvGrpSpPr>
        <p:grpSpPr>
          <a:xfrm>
            <a:off x="-2123887" y="-2346523"/>
            <a:ext cx="4693046" cy="4693046"/>
            <a:chOff x="0" y="0"/>
            <a:chExt cx="812800" cy="812800"/>
          </a:xfrm>
        </p:grpSpPr>
        <p:sp>
          <p:nvSpPr>
            <p:cNvPr id="3" name="Freeform 3">
              <a:extLst>
                <a:ext uri="{FF2B5EF4-FFF2-40B4-BE49-F238E27FC236}">
                  <a16:creationId xmlns:a16="http://schemas.microsoft.com/office/drawing/2014/main" id="{976F71F9-88D8-1EF1-78D6-BD7EE81B33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4" name="TextBox 4">
              <a:extLst>
                <a:ext uri="{FF2B5EF4-FFF2-40B4-BE49-F238E27FC236}">
                  <a16:creationId xmlns:a16="http://schemas.microsoft.com/office/drawing/2014/main" id="{88EB1A42-927D-CC41-7019-2C575B5E0016}"/>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FA596F3B-A87A-ACB6-C01A-E9E26449CEB8}"/>
              </a:ext>
            </a:extLst>
          </p:cNvPr>
          <p:cNvGrpSpPr/>
          <p:nvPr/>
        </p:nvGrpSpPr>
        <p:grpSpPr>
          <a:xfrm>
            <a:off x="15440456" y="7940477"/>
            <a:ext cx="4693046" cy="4693046"/>
            <a:chOff x="0" y="0"/>
            <a:chExt cx="812800" cy="812800"/>
          </a:xfrm>
        </p:grpSpPr>
        <p:sp>
          <p:nvSpPr>
            <p:cNvPr id="6" name="Freeform 6">
              <a:extLst>
                <a:ext uri="{FF2B5EF4-FFF2-40B4-BE49-F238E27FC236}">
                  <a16:creationId xmlns:a16="http://schemas.microsoft.com/office/drawing/2014/main" id="{40711D3C-A292-8CBC-9E4B-996CF69660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7" name="TextBox 7">
              <a:extLst>
                <a:ext uri="{FF2B5EF4-FFF2-40B4-BE49-F238E27FC236}">
                  <a16:creationId xmlns:a16="http://schemas.microsoft.com/office/drawing/2014/main" id="{DE4727AB-4908-42D6-A7E3-1982AE44643C}"/>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a:extLst>
              <a:ext uri="{FF2B5EF4-FFF2-40B4-BE49-F238E27FC236}">
                <a16:creationId xmlns:a16="http://schemas.microsoft.com/office/drawing/2014/main" id="{C74A03C3-85ED-D3D5-A151-C9F319CA4078}"/>
              </a:ext>
            </a:extLst>
          </p:cNvPr>
          <p:cNvSpPr txBox="1"/>
          <p:nvPr/>
        </p:nvSpPr>
        <p:spPr>
          <a:xfrm>
            <a:off x="3632268" y="885825"/>
            <a:ext cx="11023465" cy="852798"/>
          </a:xfrm>
          <a:prstGeom prst="rect">
            <a:avLst/>
          </a:prstGeom>
        </p:spPr>
        <p:txBody>
          <a:bodyPr lIns="0" tIns="0" rIns="0" bIns="0" rtlCol="0" anchor="t">
            <a:spAutoFit/>
          </a:bodyPr>
          <a:lstStyle/>
          <a:p>
            <a:pPr algn="ctr">
              <a:lnSpc>
                <a:spcPts val="7000"/>
              </a:lnSpc>
              <a:spcBef>
                <a:spcPct val="0"/>
              </a:spcBef>
            </a:pPr>
            <a:r>
              <a:rPr lang="en-US" sz="5000" b="1" dirty="0">
                <a:solidFill>
                  <a:srgbClr val="00569E"/>
                </a:solidFill>
                <a:latin typeface="Poppins Bold"/>
                <a:ea typeface="Poppins Bold"/>
                <a:cs typeface="Poppins Bold"/>
                <a:sym typeface="Poppins Bold"/>
              </a:rPr>
              <a:t>Comparative Analysis</a:t>
            </a:r>
          </a:p>
        </p:txBody>
      </p:sp>
      <p:pic>
        <p:nvPicPr>
          <p:cNvPr id="10" name="Picture 9">
            <a:extLst>
              <a:ext uri="{FF2B5EF4-FFF2-40B4-BE49-F238E27FC236}">
                <a16:creationId xmlns:a16="http://schemas.microsoft.com/office/drawing/2014/main" id="{D0B7464F-628E-07B2-1348-B05B1CA80696}"/>
              </a:ext>
            </a:extLst>
          </p:cNvPr>
          <p:cNvPicPr>
            <a:picLocks noChangeAspect="1"/>
          </p:cNvPicPr>
          <p:nvPr/>
        </p:nvPicPr>
        <p:blipFill>
          <a:blip r:embed="rId2"/>
          <a:stretch>
            <a:fillRect/>
          </a:stretch>
        </p:blipFill>
        <p:spPr>
          <a:xfrm>
            <a:off x="5181600" y="2346522"/>
            <a:ext cx="8433476" cy="6225977"/>
          </a:xfrm>
          <a:prstGeom prst="rect">
            <a:avLst/>
          </a:prstGeom>
        </p:spPr>
      </p:pic>
    </p:spTree>
    <p:extLst>
      <p:ext uri="{BB962C8B-B14F-4D97-AF65-F5344CB8AC3E}">
        <p14:creationId xmlns:p14="http://schemas.microsoft.com/office/powerpoint/2010/main" val="1822826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981200" y="3287834"/>
            <a:ext cx="12633384" cy="4820550"/>
          </a:xfrm>
          <a:prstGeom prst="rect">
            <a:avLst/>
          </a:prstGeom>
        </p:spPr>
        <p:txBody>
          <a:bodyPr wrap="square" lIns="0" tIns="0" rIns="0" bIns="0" rtlCol="0" anchor="t">
            <a:spAutoFit/>
          </a:bodyPr>
          <a:lstStyle/>
          <a:p>
            <a:pPr marL="781051" lvl="1" indent="-457200">
              <a:lnSpc>
                <a:spcPts val="4200"/>
              </a:lnSpc>
              <a:buFont typeface="Wingdings" panose="05000000000000000000" pitchFamily="2" charset="2"/>
              <a:buChar char="q"/>
            </a:pPr>
            <a:r>
              <a:rPr lang="en-US" sz="3000" b="1" dirty="0">
                <a:latin typeface="Poppins Bold"/>
                <a:cs typeface="Poppins Bold"/>
              </a:rPr>
              <a:t>Virtual Try-On: </a:t>
            </a:r>
            <a:r>
              <a:rPr lang="en-US" sz="3000" b="1" dirty="0">
                <a:solidFill>
                  <a:srgbClr val="00569E"/>
                </a:solidFill>
                <a:latin typeface="Poppins Bold"/>
                <a:cs typeface="Poppins Bold"/>
              </a:rPr>
              <a:t>Generate outfits on digital avatars.</a:t>
            </a:r>
          </a:p>
          <a:p>
            <a:pPr marL="781051" lvl="1" indent="-457200">
              <a:lnSpc>
                <a:spcPts val="4200"/>
              </a:lnSpc>
              <a:buFont typeface="Wingdings" panose="05000000000000000000" pitchFamily="2" charset="2"/>
              <a:buChar char="q"/>
            </a:pPr>
            <a:r>
              <a:rPr lang="en-US" sz="3000" b="1" dirty="0">
                <a:latin typeface="Poppins Bold"/>
                <a:cs typeface="Poppins Bold"/>
              </a:rPr>
              <a:t>Design Prototyping: </a:t>
            </a:r>
            <a:r>
              <a:rPr lang="en-US" sz="3000" b="1" dirty="0">
                <a:solidFill>
                  <a:srgbClr val="00569E"/>
                </a:solidFill>
                <a:latin typeface="Poppins Bold"/>
                <a:cs typeface="Poppins Bold"/>
              </a:rPr>
              <a:t>Designers can quickly test new patterns and styles.</a:t>
            </a:r>
            <a:endParaRPr lang="en-US" sz="3000" b="1" dirty="0">
              <a:solidFill>
                <a:srgbClr val="00569E"/>
              </a:solidFill>
              <a:latin typeface="Poppins Bold"/>
              <a:cs typeface="Poppins Bold"/>
              <a:sym typeface="Poppins Bold"/>
            </a:endParaRPr>
          </a:p>
          <a:p>
            <a:pPr marL="781051" lvl="1" indent="-457200">
              <a:lnSpc>
                <a:spcPts val="4200"/>
              </a:lnSpc>
              <a:buFont typeface="Wingdings" panose="05000000000000000000" pitchFamily="2" charset="2"/>
              <a:buChar char="q"/>
            </a:pPr>
            <a:r>
              <a:rPr lang="en-US" sz="3000" b="1" dirty="0">
                <a:latin typeface="Poppins Bold"/>
                <a:cs typeface="Poppins Bold"/>
              </a:rPr>
              <a:t>Catalog Creation: </a:t>
            </a:r>
            <a:r>
              <a:rPr lang="en-US" sz="3000" b="1" dirty="0">
                <a:solidFill>
                  <a:srgbClr val="00569E"/>
                </a:solidFill>
                <a:latin typeface="Poppins Bold"/>
                <a:cs typeface="Poppins Bold"/>
              </a:rPr>
              <a:t>Automatically generate diverse product images for online stores.</a:t>
            </a:r>
          </a:p>
          <a:p>
            <a:pPr marL="781051" lvl="1" indent="-457200">
              <a:lnSpc>
                <a:spcPts val="4200"/>
              </a:lnSpc>
              <a:buFont typeface="Wingdings" panose="05000000000000000000" pitchFamily="2" charset="2"/>
              <a:buChar char="q"/>
            </a:pPr>
            <a:r>
              <a:rPr lang="en-US" sz="3000" b="1" dirty="0">
                <a:latin typeface="Poppins Bold"/>
                <a:cs typeface="Poppins Bold"/>
              </a:rPr>
              <a:t>Personalized Fashion: </a:t>
            </a:r>
            <a:r>
              <a:rPr lang="en-US" sz="3000" b="1" dirty="0">
                <a:solidFill>
                  <a:srgbClr val="00569E"/>
                </a:solidFill>
                <a:latin typeface="Poppins Bold"/>
                <a:cs typeface="Poppins Bold"/>
              </a:rPr>
              <a:t>Create customized designs based on user preferences.</a:t>
            </a:r>
            <a:endParaRPr lang="en-US" sz="3000" b="1" dirty="0">
              <a:solidFill>
                <a:srgbClr val="00569E"/>
              </a:solidFill>
              <a:latin typeface="Poppins Bold"/>
              <a:cs typeface="Poppins Bold"/>
              <a:sym typeface="Poppins Bold"/>
            </a:endParaRPr>
          </a:p>
          <a:p>
            <a:pPr marL="781051" lvl="1" indent="-457200">
              <a:lnSpc>
                <a:spcPts val="4200"/>
              </a:lnSpc>
              <a:buFont typeface="Wingdings" panose="05000000000000000000" pitchFamily="2" charset="2"/>
              <a:buChar char="q"/>
            </a:pPr>
            <a:r>
              <a:rPr lang="en-US" sz="3000" b="1" dirty="0">
                <a:latin typeface="Poppins Bold"/>
                <a:cs typeface="Poppins Bold"/>
              </a:rPr>
              <a:t>Data Augmentation: </a:t>
            </a:r>
            <a:r>
              <a:rPr lang="en-US" sz="3000" b="1" dirty="0">
                <a:solidFill>
                  <a:srgbClr val="00569E"/>
                </a:solidFill>
                <a:latin typeface="Poppins Bold"/>
                <a:cs typeface="Poppins Bold"/>
              </a:rPr>
              <a:t>Enrich training datasets for other AI models.</a:t>
            </a:r>
            <a:endParaRPr lang="en-US" sz="3000" b="1" dirty="0">
              <a:solidFill>
                <a:srgbClr val="00569E"/>
              </a:solidFill>
              <a:latin typeface="Poppins Bold"/>
              <a:cs typeface="Poppins Bold"/>
              <a:sym typeface="Poppins"/>
            </a:endParaRPr>
          </a:p>
        </p:txBody>
      </p:sp>
      <p:sp>
        <p:nvSpPr>
          <p:cNvPr id="6" name="TextBox 6"/>
          <p:cNvSpPr txBox="1"/>
          <p:nvPr/>
        </p:nvSpPr>
        <p:spPr>
          <a:xfrm>
            <a:off x="2827308" y="895350"/>
            <a:ext cx="12633384" cy="852734"/>
          </a:xfrm>
          <a:prstGeom prst="rect">
            <a:avLst/>
          </a:prstGeom>
        </p:spPr>
        <p:txBody>
          <a:bodyPr lIns="0" tIns="0" rIns="0" bIns="0" rtlCol="0" anchor="t">
            <a:spAutoFit/>
          </a:bodyPr>
          <a:lstStyle/>
          <a:p>
            <a:pPr>
              <a:lnSpc>
                <a:spcPts val="6999"/>
              </a:lnSpc>
              <a:spcBef>
                <a:spcPct val="0"/>
              </a:spcBef>
            </a:pPr>
            <a:r>
              <a:rPr lang="en-US" sz="4999" b="1" dirty="0">
                <a:solidFill>
                  <a:srgbClr val="00569E"/>
                </a:solidFill>
                <a:latin typeface="Poppins Bold"/>
                <a:ea typeface="Poppins Bold"/>
                <a:cs typeface="Poppins Bold"/>
                <a:sym typeface="Poppins Bold"/>
              </a:rPr>
              <a:t>Use Cases of fashion image synthesis</a:t>
            </a:r>
          </a:p>
        </p:txBody>
      </p:sp>
      <p:grpSp>
        <p:nvGrpSpPr>
          <p:cNvPr id="7" name="Group 7"/>
          <p:cNvGrpSpPr/>
          <p:nvPr/>
        </p:nvGrpSpPr>
        <p:grpSpPr>
          <a:xfrm>
            <a:off x="15440456" y="7940477"/>
            <a:ext cx="4693046" cy="469304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56F94CC3-F8A8-0335-4452-9D577BE17D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D2D872-7D11-D7E5-8A0F-55ED7FCDA588}"/>
              </a:ext>
            </a:extLst>
          </p:cNvPr>
          <p:cNvGrpSpPr/>
          <p:nvPr/>
        </p:nvGrpSpPr>
        <p:grpSpPr>
          <a:xfrm>
            <a:off x="-2819402" y="-2511513"/>
            <a:ext cx="4948588" cy="4693046"/>
            <a:chOff x="-120458" y="-28575"/>
            <a:chExt cx="857058" cy="812800"/>
          </a:xfrm>
        </p:grpSpPr>
        <p:sp>
          <p:nvSpPr>
            <p:cNvPr id="3" name="Freeform 3">
              <a:extLst>
                <a:ext uri="{FF2B5EF4-FFF2-40B4-BE49-F238E27FC236}">
                  <a16:creationId xmlns:a16="http://schemas.microsoft.com/office/drawing/2014/main" id="{75313C4F-15B7-B13F-BFC3-6946EDD3F2E3}"/>
                </a:ext>
              </a:extLst>
            </p:cNvPr>
            <p:cNvSpPr/>
            <p:nvPr/>
          </p:nvSpPr>
          <p:spPr>
            <a:xfrm>
              <a:off x="-120458" y="-28575"/>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dirty="0"/>
            </a:p>
          </p:txBody>
        </p:sp>
        <p:sp>
          <p:nvSpPr>
            <p:cNvPr id="4" name="TextBox 4">
              <a:extLst>
                <a:ext uri="{FF2B5EF4-FFF2-40B4-BE49-F238E27FC236}">
                  <a16:creationId xmlns:a16="http://schemas.microsoft.com/office/drawing/2014/main" id="{91A1546E-AB84-0803-306B-AFDC153B6FEA}"/>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a:extLst>
              <a:ext uri="{FF2B5EF4-FFF2-40B4-BE49-F238E27FC236}">
                <a16:creationId xmlns:a16="http://schemas.microsoft.com/office/drawing/2014/main" id="{33570B77-E7AA-1E72-BC6B-4941A9285898}"/>
              </a:ext>
            </a:extLst>
          </p:cNvPr>
          <p:cNvSpPr txBox="1"/>
          <p:nvPr/>
        </p:nvSpPr>
        <p:spPr>
          <a:xfrm>
            <a:off x="1981200" y="3287834"/>
            <a:ext cx="12633384" cy="3743332"/>
          </a:xfrm>
          <a:prstGeom prst="rect">
            <a:avLst/>
          </a:prstGeom>
        </p:spPr>
        <p:txBody>
          <a:bodyPr wrap="square" lIns="0" tIns="0" rIns="0" bIns="0" rtlCol="0" anchor="t">
            <a:spAutoFit/>
          </a:bodyPr>
          <a:lstStyle/>
          <a:p>
            <a:pPr marL="781051" lvl="1" indent="-457200">
              <a:lnSpc>
                <a:spcPts val="4200"/>
              </a:lnSpc>
              <a:buFont typeface="Wingdings" panose="05000000000000000000" pitchFamily="2" charset="2"/>
              <a:buChar char="q"/>
            </a:pPr>
            <a:r>
              <a:rPr lang="en-US" sz="3000" b="1" dirty="0">
                <a:latin typeface="Poppins Bold"/>
                <a:cs typeface="Poppins Bold"/>
              </a:rPr>
              <a:t>Copyright: </a:t>
            </a:r>
            <a:r>
              <a:rPr lang="en-US" sz="3000" b="1" dirty="0">
                <a:solidFill>
                  <a:srgbClr val="00569E"/>
                </a:solidFill>
                <a:latin typeface="Poppins Bold"/>
                <a:cs typeface="Poppins Bold"/>
              </a:rPr>
              <a:t>Unclear ownership of AI-generated images.</a:t>
            </a:r>
          </a:p>
          <a:p>
            <a:pPr marL="781051" lvl="1" indent="-457200">
              <a:lnSpc>
                <a:spcPts val="4200"/>
              </a:lnSpc>
              <a:buFont typeface="Wingdings" panose="05000000000000000000" pitchFamily="2" charset="2"/>
              <a:buChar char="q"/>
            </a:pPr>
            <a:r>
              <a:rPr lang="en-US" sz="3000" b="1" dirty="0">
                <a:latin typeface="Poppins Bold"/>
                <a:cs typeface="Poppins Bold"/>
              </a:rPr>
              <a:t>Job Automation: </a:t>
            </a:r>
            <a:r>
              <a:rPr lang="en-US" sz="3000" b="1" dirty="0">
                <a:solidFill>
                  <a:srgbClr val="00569E"/>
                </a:solidFill>
                <a:latin typeface="Poppins Bold"/>
                <a:cs typeface="Poppins Bold"/>
              </a:rPr>
              <a:t>AI may automate roles of human artists and designers.</a:t>
            </a:r>
            <a:endParaRPr lang="en-US" sz="3000" b="1" dirty="0">
              <a:solidFill>
                <a:srgbClr val="00569E"/>
              </a:solidFill>
              <a:latin typeface="Poppins Bold"/>
              <a:cs typeface="Poppins Bold"/>
              <a:sym typeface="Poppins Bold"/>
            </a:endParaRPr>
          </a:p>
          <a:p>
            <a:pPr marL="781051" lvl="1" indent="-457200">
              <a:lnSpc>
                <a:spcPts val="4200"/>
              </a:lnSpc>
              <a:buFont typeface="Wingdings" panose="05000000000000000000" pitchFamily="2" charset="2"/>
              <a:buChar char="q"/>
            </a:pPr>
            <a:r>
              <a:rPr lang="en-US" sz="3000" b="1" dirty="0">
                <a:latin typeface="Poppins Bold"/>
                <a:cs typeface="Poppins Bold"/>
              </a:rPr>
              <a:t>Result: </a:t>
            </a:r>
            <a:r>
              <a:rPr lang="en-US" sz="3000" b="1" dirty="0">
                <a:solidFill>
                  <a:srgbClr val="00569E"/>
                </a:solidFill>
                <a:latin typeface="Poppins Bold"/>
                <a:cs typeface="Poppins Bold"/>
              </a:rPr>
              <a:t>Raises questions about the future of creative industries.</a:t>
            </a:r>
          </a:p>
          <a:p>
            <a:pPr marL="781051" lvl="1" indent="-457200">
              <a:lnSpc>
                <a:spcPts val="4200"/>
              </a:lnSpc>
              <a:buFont typeface="Wingdings" panose="05000000000000000000" pitchFamily="2" charset="2"/>
              <a:buChar char="q"/>
            </a:pPr>
            <a:r>
              <a:rPr lang="en-US" sz="3000" b="1" dirty="0">
                <a:latin typeface="Poppins Bold"/>
                <a:cs typeface="Poppins Bold"/>
              </a:rPr>
              <a:t>Summary: </a:t>
            </a:r>
            <a:r>
              <a:rPr lang="en-US" sz="3000" b="1" dirty="0">
                <a:solidFill>
                  <a:srgbClr val="00569E"/>
                </a:solidFill>
                <a:latin typeface="Poppins Bold"/>
                <a:cs typeface="Poppins Bold"/>
              </a:rPr>
              <a:t>We must address these challenges for the responsible use of GANs.</a:t>
            </a:r>
            <a:endParaRPr lang="en-US" sz="3000" b="1" dirty="0">
              <a:solidFill>
                <a:srgbClr val="00569E"/>
              </a:solidFill>
              <a:latin typeface="Poppins Bold"/>
              <a:cs typeface="Poppins Bold"/>
              <a:sym typeface="Poppins"/>
            </a:endParaRPr>
          </a:p>
        </p:txBody>
      </p:sp>
      <p:sp>
        <p:nvSpPr>
          <p:cNvPr id="6" name="TextBox 6">
            <a:extLst>
              <a:ext uri="{FF2B5EF4-FFF2-40B4-BE49-F238E27FC236}">
                <a16:creationId xmlns:a16="http://schemas.microsoft.com/office/drawing/2014/main" id="{5535B62C-F80E-8A5C-0527-4466010A90D2}"/>
              </a:ext>
            </a:extLst>
          </p:cNvPr>
          <p:cNvSpPr txBox="1"/>
          <p:nvPr/>
        </p:nvSpPr>
        <p:spPr>
          <a:xfrm>
            <a:off x="2827308" y="895350"/>
            <a:ext cx="12633384" cy="852734"/>
          </a:xfrm>
          <a:prstGeom prst="rect">
            <a:avLst/>
          </a:prstGeom>
        </p:spPr>
        <p:txBody>
          <a:bodyPr lIns="0" tIns="0" rIns="0" bIns="0" rtlCol="0" anchor="t">
            <a:spAutoFit/>
          </a:bodyPr>
          <a:lstStyle/>
          <a:p>
            <a:pPr>
              <a:lnSpc>
                <a:spcPts val="6999"/>
              </a:lnSpc>
              <a:spcBef>
                <a:spcPct val="0"/>
              </a:spcBef>
            </a:pPr>
            <a:r>
              <a:rPr lang="en-US" sz="4999" b="1" dirty="0">
                <a:solidFill>
                  <a:srgbClr val="00569E"/>
                </a:solidFill>
                <a:latin typeface="Poppins Bold"/>
                <a:ea typeface="Poppins Bold"/>
                <a:cs typeface="Poppins Bold"/>
                <a:sym typeface="Poppins Bold"/>
              </a:rPr>
              <a:t>Ethical Concerns &amp; Challenges</a:t>
            </a:r>
          </a:p>
        </p:txBody>
      </p:sp>
      <p:grpSp>
        <p:nvGrpSpPr>
          <p:cNvPr id="7" name="Group 7">
            <a:extLst>
              <a:ext uri="{FF2B5EF4-FFF2-40B4-BE49-F238E27FC236}">
                <a16:creationId xmlns:a16="http://schemas.microsoft.com/office/drawing/2014/main" id="{F0FC108C-A067-7257-4F0F-0FCDB39B31EC}"/>
              </a:ext>
            </a:extLst>
          </p:cNvPr>
          <p:cNvGrpSpPr/>
          <p:nvPr/>
        </p:nvGrpSpPr>
        <p:grpSpPr>
          <a:xfrm>
            <a:off x="15440456" y="7940477"/>
            <a:ext cx="4693046" cy="4693046"/>
            <a:chOff x="0" y="0"/>
            <a:chExt cx="812800" cy="812800"/>
          </a:xfrm>
        </p:grpSpPr>
        <p:sp>
          <p:nvSpPr>
            <p:cNvPr id="8" name="Freeform 8">
              <a:extLst>
                <a:ext uri="{FF2B5EF4-FFF2-40B4-BE49-F238E27FC236}">
                  <a16:creationId xmlns:a16="http://schemas.microsoft.com/office/drawing/2014/main" id="{3D6F2182-7C26-8493-CC52-2DFCE4BF541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txBody>
            <a:bodyPr/>
            <a:lstStyle/>
            <a:p>
              <a:endParaRPr lang="en-IN"/>
            </a:p>
          </p:txBody>
        </p:sp>
        <p:sp>
          <p:nvSpPr>
            <p:cNvPr id="9" name="TextBox 9">
              <a:extLst>
                <a:ext uri="{FF2B5EF4-FFF2-40B4-BE49-F238E27FC236}">
                  <a16:creationId xmlns:a16="http://schemas.microsoft.com/office/drawing/2014/main" id="{21139B3A-E8B8-FDD6-ECBF-2EEC5E7BD526}"/>
                </a:ext>
              </a:extLst>
            </p:cNvPr>
            <p:cNvSpPr txBox="1"/>
            <p:nvPr/>
          </p:nvSpPr>
          <p:spPr>
            <a:xfrm>
              <a:off x="76200" y="19050"/>
              <a:ext cx="660400" cy="71755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712507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47242" y="242293"/>
            <a:ext cx="17793515" cy="9802411"/>
            <a:chOff x="0" y="0"/>
            <a:chExt cx="4982580" cy="2744893"/>
          </a:xfrm>
        </p:grpSpPr>
        <p:sp>
          <p:nvSpPr>
            <p:cNvPr id="3" name="Freeform 3"/>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txBody>
            <a:bodyPr/>
            <a:lstStyle/>
            <a:p>
              <a:endParaRPr lang="en-IN"/>
            </a:p>
          </p:txBody>
        </p:sp>
        <p:sp>
          <p:nvSpPr>
            <p:cNvPr id="4" name="TextBox 4"/>
            <p:cNvSpPr txBox="1"/>
            <p:nvPr/>
          </p:nvSpPr>
          <p:spPr>
            <a:xfrm>
              <a:off x="0" y="-57150"/>
              <a:ext cx="4982580" cy="280204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5155175" y="709244"/>
            <a:ext cx="7853603" cy="1268757"/>
          </a:xfrm>
          <a:prstGeom prst="rect">
            <a:avLst/>
          </a:prstGeom>
        </p:spPr>
        <p:txBody>
          <a:bodyPr lIns="0" tIns="0" rIns="0" bIns="0" rtlCol="0" anchor="t">
            <a:spAutoFit/>
          </a:bodyPr>
          <a:lstStyle/>
          <a:p>
            <a:pPr marL="0" lvl="0" indent="0" algn="ctr">
              <a:lnSpc>
                <a:spcPts val="9868"/>
              </a:lnSpc>
              <a:spcBef>
                <a:spcPct val="0"/>
              </a:spcBef>
            </a:pPr>
            <a:r>
              <a:rPr lang="en-US" sz="7048">
                <a:solidFill>
                  <a:srgbClr val="00569E"/>
                </a:solidFill>
                <a:latin typeface="Poppins"/>
                <a:ea typeface="Poppins"/>
                <a:cs typeface="Poppins"/>
                <a:sym typeface="Poppins"/>
              </a:rPr>
              <a:t>Conclusion</a:t>
            </a:r>
          </a:p>
        </p:txBody>
      </p:sp>
      <p:sp>
        <p:nvSpPr>
          <p:cNvPr id="7" name="Rectangle 1">
            <a:extLst>
              <a:ext uri="{FF2B5EF4-FFF2-40B4-BE49-F238E27FC236}">
                <a16:creationId xmlns:a16="http://schemas.microsoft.com/office/drawing/2014/main" id="{9E0B6D60-7462-DDA7-95F4-2E836A3400B7}"/>
              </a:ext>
            </a:extLst>
          </p:cNvPr>
          <p:cNvSpPr>
            <a:spLocks noChangeArrowheads="1"/>
          </p:cNvSpPr>
          <p:nvPr/>
        </p:nvSpPr>
        <p:spPr bwMode="auto">
          <a:xfrm>
            <a:off x="2019299" y="2933700"/>
            <a:ext cx="142494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sz="2800" b="1" dirty="0">
                <a:solidFill>
                  <a:srgbClr val="00569E"/>
                </a:solidFill>
                <a:latin typeface="Poppins Bold"/>
                <a:cs typeface="Poppins Bold"/>
              </a:rPr>
              <a:t>Generative Adversarial Networks (GANs) have proven to be highly effective for synthetic image generation, offering significant advancements in both quality and diversity. Our experiments with DCGAN and </a:t>
            </a:r>
            <a:r>
              <a:rPr lang="en-US" sz="2800" b="1" dirty="0" err="1">
                <a:solidFill>
                  <a:srgbClr val="00569E"/>
                </a:solidFill>
                <a:latin typeface="Poppins Bold"/>
                <a:cs typeface="Poppins Bold"/>
              </a:rPr>
              <a:t>cGAN</a:t>
            </a:r>
            <a:r>
              <a:rPr lang="en-US" sz="2800" b="1" dirty="0">
                <a:solidFill>
                  <a:srgbClr val="00569E"/>
                </a:solidFill>
                <a:latin typeface="Poppins Bold"/>
                <a:cs typeface="Poppins Bold"/>
              </a:rPr>
              <a:t> highlight their complementary strengths—DCGAN produces visually sharper and higher-quality images, while </a:t>
            </a:r>
            <a:r>
              <a:rPr lang="en-US" sz="2800" b="1" dirty="0" err="1">
                <a:solidFill>
                  <a:srgbClr val="00569E"/>
                </a:solidFill>
                <a:latin typeface="Poppins Bold"/>
                <a:cs typeface="Poppins Bold"/>
              </a:rPr>
              <a:t>cGAN</a:t>
            </a:r>
            <a:r>
              <a:rPr lang="en-US" sz="2800" b="1" dirty="0">
                <a:solidFill>
                  <a:srgbClr val="00569E"/>
                </a:solidFill>
                <a:latin typeface="Poppins Bold"/>
                <a:cs typeface="Poppins Bold"/>
              </a:rPr>
              <a:t> enables class-specific control over generation, making it more useful for targeted applications. However, both models face challenges such as training instability, high computational cost, and ethical risks, particularly in relation to deepfakes and data misuse. Future research must address these challenges through improved architectures like WGAN and StyleGAN, better evaluation metrics, and a stronger emphasis on ethical responsibility, ensuring GANs are leveraged for constructive and impactful innovations.</a:t>
            </a:r>
            <a:endParaRPr lang="en-US" altLang="en-US" sz="2800" b="1" dirty="0">
              <a:solidFill>
                <a:srgbClr val="00569E"/>
              </a:solidFill>
              <a:latin typeface="Poppins Bold"/>
              <a:cs typeface="Poppins Bo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3212132" y="3992216"/>
            <a:ext cx="8819592" cy="1876266"/>
          </a:xfrm>
          <a:prstGeom prst="rect">
            <a:avLst/>
          </a:prstGeom>
        </p:spPr>
        <p:txBody>
          <a:bodyPr lIns="0" tIns="0" rIns="0" bIns="0" rtlCol="0" anchor="t">
            <a:spAutoFit/>
          </a:bodyPr>
          <a:lstStyle/>
          <a:p>
            <a:pPr marL="0" lvl="0" indent="0" algn="l">
              <a:lnSpc>
                <a:spcPts val="14510"/>
              </a:lnSpc>
              <a:spcBef>
                <a:spcPct val="0"/>
              </a:spcBef>
            </a:pPr>
            <a:r>
              <a:rPr lang="en-US" sz="10364">
                <a:solidFill>
                  <a:srgbClr val="051D40"/>
                </a:solidFill>
                <a:latin typeface="Poppins"/>
                <a:ea typeface="Poppins"/>
                <a:cs typeface="Poppins"/>
                <a:sym typeface="Poppins"/>
              </a:rPr>
              <a:t>THANK YOU!</a:t>
            </a:r>
          </a:p>
        </p:txBody>
      </p:sp>
      <p:sp>
        <p:nvSpPr>
          <p:cNvPr id="3" name="Freeform 3"/>
          <p:cNvSpPr/>
          <p:nvPr/>
        </p:nvSpPr>
        <p:spPr>
          <a:xfrm>
            <a:off x="12398912" y="967949"/>
            <a:ext cx="5889088" cy="8229600"/>
          </a:xfrm>
          <a:custGeom>
            <a:avLst/>
            <a:gdLst/>
            <a:ahLst/>
            <a:cxnLst/>
            <a:rect l="l" t="t" r="r" b="b"/>
            <a:pathLst>
              <a:path w="5889088" h="8229600">
                <a:moveTo>
                  <a:pt x="0" y="0"/>
                </a:moveTo>
                <a:lnTo>
                  <a:pt x="5889088" y="0"/>
                </a:lnTo>
                <a:lnTo>
                  <a:pt x="5889088" y="8229600"/>
                </a:lnTo>
                <a:lnTo>
                  <a:pt x="0" y="8229600"/>
                </a:lnTo>
                <a:lnTo>
                  <a:pt x="0" y="0"/>
                </a:lnTo>
                <a:close/>
              </a:path>
            </a:pathLst>
          </a:custGeom>
          <a:blipFill>
            <a:blip r:embed="rId2"/>
            <a:stretch>
              <a:fillRect t="-3703" b="-3703"/>
            </a:stretch>
          </a:blipFill>
        </p:spPr>
        <p:txBody>
          <a:bodyPr/>
          <a:lstStyle/>
          <a:p>
            <a:endParaRPr lang="en-IN"/>
          </a:p>
        </p:txBody>
      </p:sp>
      <p:grpSp>
        <p:nvGrpSpPr>
          <p:cNvPr id="4" name="Group 4"/>
          <p:cNvGrpSpPr/>
          <p:nvPr/>
        </p:nvGrpSpPr>
        <p:grpSpPr>
          <a:xfrm>
            <a:off x="12398912" y="0"/>
            <a:ext cx="5889088" cy="756959"/>
            <a:chOff x="0" y="0"/>
            <a:chExt cx="1551036" cy="199364"/>
          </a:xfrm>
        </p:grpSpPr>
        <p:sp>
          <p:nvSpPr>
            <p:cNvPr id="5" name="Freeform 5"/>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IN"/>
            </a:p>
          </p:txBody>
        </p:sp>
        <p:sp>
          <p:nvSpPr>
            <p:cNvPr id="6" name="TextBox 6"/>
            <p:cNvSpPr txBox="1"/>
            <p:nvPr/>
          </p:nvSpPr>
          <p:spPr>
            <a:xfrm>
              <a:off x="0" y="-57150"/>
              <a:ext cx="1551036" cy="256514"/>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2398912" y="9530041"/>
            <a:ext cx="5889088" cy="756959"/>
            <a:chOff x="0" y="0"/>
            <a:chExt cx="1551036" cy="199364"/>
          </a:xfrm>
        </p:grpSpPr>
        <p:sp>
          <p:nvSpPr>
            <p:cNvPr id="8" name="Freeform 8"/>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txBody>
            <a:bodyPr/>
            <a:lstStyle/>
            <a:p>
              <a:endParaRPr lang="en-IN"/>
            </a:p>
          </p:txBody>
        </p:sp>
        <p:sp>
          <p:nvSpPr>
            <p:cNvPr id="9" name="TextBox 9"/>
            <p:cNvSpPr txBox="1"/>
            <p:nvPr/>
          </p:nvSpPr>
          <p:spPr>
            <a:xfrm>
              <a:off x="0" y="-57150"/>
              <a:ext cx="1551036" cy="256514"/>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4925441" y="3609788"/>
            <a:ext cx="9392643" cy="9529477"/>
          </a:xfrm>
          <a:custGeom>
            <a:avLst/>
            <a:gdLst/>
            <a:ahLst/>
            <a:cxnLst/>
            <a:rect l="l" t="t" r="r" b="b"/>
            <a:pathLst>
              <a:path w="9392643" h="9529477">
                <a:moveTo>
                  <a:pt x="0" y="0"/>
                </a:moveTo>
                <a:lnTo>
                  <a:pt x="9392643" y="0"/>
                </a:lnTo>
                <a:lnTo>
                  <a:pt x="9392643" y="9529476"/>
                </a:lnTo>
                <a:lnTo>
                  <a:pt x="0" y="9529476"/>
                </a:lnTo>
                <a:lnTo>
                  <a:pt x="0" y="0"/>
                </a:lnTo>
                <a:close/>
              </a:path>
            </a:pathLst>
          </a:custGeom>
          <a:blipFill>
            <a:blip r:embed="rId3">
              <a:alphaModFix amt="20999"/>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TotalTime>
  <Words>786</Words>
  <Application>Microsoft Office PowerPoint</Application>
  <PresentationFormat>Custom</PresentationFormat>
  <Paragraphs>78</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TT Hoves Bold</vt:lpstr>
      <vt:lpstr>Wingdings</vt:lpstr>
      <vt:lpstr>Poppins</vt:lpstr>
      <vt:lpstr>Cy Grotesk Key Bold</vt:lpstr>
      <vt:lpstr>Calibri</vt:lpstr>
      <vt:lpstr>Poppins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GAN Implementation</dc:title>
  <dc:creator>Gourav Sable</dc:creator>
  <cp:lastModifiedBy>Gourav Sable</cp:lastModifiedBy>
  <cp:revision>20</cp:revision>
  <dcterms:created xsi:type="dcterms:W3CDTF">2006-08-16T00:00:00Z</dcterms:created>
  <dcterms:modified xsi:type="dcterms:W3CDTF">2025-09-29T17:52:52Z</dcterms:modified>
  <dc:identifier>DAGz5UAP258</dc:identifier>
</cp:coreProperties>
</file>